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73" r:id="rId17"/>
    <p:sldId id="274" r:id="rId18"/>
    <p:sldId id="275" r:id="rId19"/>
    <p:sldId id="276" r:id="rId20"/>
    <p:sldId id="277" r:id="rId21"/>
    <p:sldId id="278" r:id="rId22"/>
    <p:sldId id="279" r:id="rId23"/>
    <p:sldId id="280" r:id="rId24"/>
    <p:sldId id="269" r:id="rId25"/>
    <p:sldId id="281" r:id="rId26"/>
    <p:sldId id="270" r:id="rId27"/>
  </p:sldIdLst>
  <p:sldSz cx="18288000" cy="10287000"/>
  <p:notesSz cx="6858000" cy="9144000"/>
  <p:embeddedFontLst>
    <p:embeddedFont>
      <p:font typeface="Canva Sans Bold" charset="0"/>
      <p:regular r:id="rId28"/>
    </p:embeddedFont>
    <p:embeddedFont>
      <p:font typeface="Canva Sans" charset="0"/>
      <p:regular r:id="rId29"/>
    </p:embeddedFont>
    <p:embeddedFont>
      <p:font typeface="Calibri"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autoAdjust="0"/>
    <p:restoredTop sz="94622" autoAdjust="0"/>
  </p:normalViewPr>
  <p:slideViewPr>
    <p:cSldViewPr>
      <p:cViewPr varScale="1">
        <p:scale>
          <a:sx n="36" d="100"/>
          <a:sy n="36" d="100"/>
        </p:scale>
        <p:origin x="-96" y="-6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shettyrishit-1707/IMAGE-STEGANOGRAPHY-"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659547" y="3120035"/>
            <a:ext cx="14968906" cy="3195319"/>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REAL-TIME RESEARCH PROJECT</a:t>
            </a:r>
          </a:p>
        </p:txBody>
      </p:sp>
      <p:sp>
        <p:nvSpPr>
          <p:cNvPr id="4" name="AutoShape 4"/>
          <p:cNvSpPr/>
          <p:nvPr/>
        </p:nvSpPr>
        <p:spPr>
          <a:xfrm>
            <a:off x="1341857" y="2731488"/>
            <a:ext cx="6492240" cy="0"/>
          </a:xfrm>
          <a:prstGeom prst="line">
            <a:avLst/>
          </a:prstGeom>
          <a:ln w="38100" cap="flat">
            <a:solidFill>
              <a:srgbClr val="000000"/>
            </a:solidFill>
            <a:prstDash val="sysDash"/>
            <a:headEnd type="none" w="sm" len="sm"/>
            <a:tailEnd type="none" w="sm" len="sm"/>
          </a:ln>
        </p:spPr>
      </p:sp>
      <p:sp>
        <p:nvSpPr>
          <p:cNvPr id="5" name="AutoShape 5"/>
          <p:cNvSpPr/>
          <p:nvPr/>
        </p:nvSpPr>
        <p:spPr>
          <a:xfrm>
            <a:off x="10420763" y="7048216"/>
            <a:ext cx="6492240" cy="0"/>
          </a:xfrm>
          <a:prstGeom prst="line">
            <a:avLst/>
          </a:prstGeom>
          <a:ln w="38100" cap="flat">
            <a:solidFill>
              <a:srgbClr val="000000"/>
            </a:solidFill>
            <a:prstDash val="sysDash"/>
            <a:headEnd type="none" w="sm" len="sm"/>
            <a:tailEnd type="none" w="sm" len="sm"/>
          </a:ln>
        </p:spPr>
      </p:sp>
      <p:sp>
        <p:nvSpPr>
          <p:cNvPr id="6" name="AutoShape 6"/>
          <p:cNvSpPr/>
          <p:nvPr/>
        </p:nvSpPr>
        <p:spPr>
          <a:xfrm>
            <a:off x="0" y="2150463"/>
            <a:ext cx="6492240" cy="0"/>
          </a:xfrm>
          <a:prstGeom prst="line">
            <a:avLst/>
          </a:prstGeom>
          <a:ln w="38100" cap="flat">
            <a:solidFill>
              <a:srgbClr val="000000"/>
            </a:solidFill>
            <a:prstDash val="solid"/>
            <a:headEnd type="none" w="sm" len="sm"/>
            <a:tailEnd type="none" w="sm" len="sm"/>
          </a:ln>
        </p:spPr>
      </p:sp>
      <p:sp>
        <p:nvSpPr>
          <p:cNvPr id="7" name="AutoShape 7"/>
          <p:cNvSpPr/>
          <p:nvPr/>
        </p:nvSpPr>
        <p:spPr>
          <a:xfrm>
            <a:off x="12070002" y="7584219"/>
            <a:ext cx="6492240" cy="0"/>
          </a:xfrm>
          <a:prstGeom prst="line">
            <a:avLst/>
          </a:prstGeom>
          <a:ln w="38100" cap="flat">
            <a:solidFill>
              <a:srgbClr val="000000"/>
            </a:solidFill>
            <a:prstDash val="solid"/>
            <a:headEnd type="none" w="sm" len="sm"/>
            <a:tailEnd type="none" w="sm" len="sm"/>
          </a:ln>
        </p:spPr>
      </p:sp>
      <p:pic>
        <p:nvPicPr>
          <p:cNvPr id="1026" name="Picture 2"/>
          <p:cNvPicPr>
            <a:picLocks noChangeAspect="1" noChangeArrowheads="1"/>
          </p:cNvPicPr>
          <p:nvPr/>
        </p:nvPicPr>
        <p:blipFill>
          <a:blip r:embed="rId2"/>
          <a:srcRect/>
          <a:stretch>
            <a:fillRect/>
          </a:stretch>
        </p:blipFill>
        <p:spPr bwMode="auto">
          <a:xfrm>
            <a:off x="13896975" y="0"/>
            <a:ext cx="4391025" cy="304803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28564" y="785782"/>
            <a:ext cx="3627279" cy="1203313"/>
          </a:xfrm>
          <a:prstGeom prst="rect">
            <a:avLst/>
          </a:prstGeom>
        </p:spPr>
        <p:txBody>
          <a:bodyPr lIns="0" tIns="0" rIns="0" bIns="0" rtlCol="0" anchor="t">
            <a:spAutoFit/>
          </a:bodyPr>
          <a:lstStyle/>
          <a:p>
            <a:pPr algn="ctr">
              <a:lnSpc>
                <a:spcPts val="9800"/>
              </a:lnSpc>
              <a:spcBef>
                <a:spcPct val="0"/>
              </a:spcBef>
            </a:pPr>
            <a:r>
              <a:rPr lang="en-US" sz="7000" b="1" dirty="0">
                <a:solidFill>
                  <a:srgbClr val="000000"/>
                </a:solidFill>
                <a:latin typeface="Canva Sans Bold"/>
                <a:ea typeface="Canva Sans Bold"/>
                <a:cs typeface="Canva Sans Bold"/>
                <a:sym typeface="Canva Sans Bold"/>
              </a:rPr>
              <a:t>TITLE:</a:t>
            </a:r>
          </a:p>
        </p:txBody>
      </p:sp>
      <p:sp>
        <p:nvSpPr>
          <p:cNvPr id="4" name="TextBox 4"/>
          <p:cNvSpPr txBox="1"/>
          <p:nvPr/>
        </p:nvSpPr>
        <p:spPr>
          <a:xfrm>
            <a:off x="2071638" y="2357418"/>
            <a:ext cx="15449685" cy="2082511"/>
          </a:xfrm>
          <a:prstGeom prst="rect">
            <a:avLst/>
          </a:prstGeom>
        </p:spPr>
        <p:txBody>
          <a:bodyPr lIns="0" tIns="0" rIns="0" bIns="0" rtlCol="0" anchor="t">
            <a:spAutoFit/>
          </a:bodyPr>
          <a:lstStyle/>
          <a:p>
            <a:pPr algn="ctr">
              <a:lnSpc>
                <a:spcPts val="8351"/>
              </a:lnSpc>
            </a:pPr>
            <a:r>
              <a:rPr lang="en-US" sz="5965" b="1" dirty="0">
                <a:solidFill>
                  <a:srgbClr val="000000"/>
                </a:solidFill>
                <a:latin typeface="Canva Sans Bold"/>
                <a:ea typeface="Canva Sans Bold"/>
                <a:cs typeface="Canva Sans Bold"/>
                <a:sym typeface="Canva Sans Bold"/>
              </a:rPr>
              <a:t>Image </a:t>
            </a:r>
            <a:r>
              <a:rPr lang="en-US" sz="5965" b="1" dirty="0" err="1">
                <a:solidFill>
                  <a:srgbClr val="000000"/>
                </a:solidFill>
                <a:latin typeface="Canva Sans Bold"/>
                <a:ea typeface="Canva Sans Bold"/>
                <a:cs typeface="Canva Sans Bold"/>
                <a:sym typeface="Canva Sans Bold"/>
              </a:rPr>
              <a:t>Steganography</a:t>
            </a:r>
            <a:r>
              <a:rPr lang="en-US" sz="5965" b="1" dirty="0">
                <a:solidFill>
                  <a:srgbClr val="000000"/>
                </a:solidFill>
                <a:latin typeface="Canva Sans Bold"/>
                <a:ea typeface="Canva Sans Bold"/>
                <a:cs typeface="Canva Sans Bold"/>
                <a:sym typeface="Canva Sans Bold"/>
              </a:rPr>
              <a:t> with CNN Based Encoder-Decoder Model </a:t>
            </a:r>
          </a:p>
        </p:txBody>
      </p:sp>
      <p:sp>
        <p:nvSpPr>
          <p:cNvPr id="5" name="AutoShape 5"/>
          <p:cNvSpPr/>
          <p:nvPr/>
        </p:nvSpPr>
        <p:spPr>
          <a:xfrm>
            <a:off x="0" y="5000624"/>
            <a:ext cx="6492240" cy="0"/>
          </a:xfrm>
          <a:prstGeom prst="line">
            <a:avLst/>
          </a:prstGeom>
          <a:ln w="38100" cap="flat">
            <a:solidFill>
              <a:srgbClr val="000000"/>
            </a:solidFill>
            <a:prstDash val="solid"/>
            <a:headEnd type="none" w="sm" len="sm"/>
            <a:tailEnd type="none" w="sm" len="sm"/>
          </a:ln>
        </p:spPr>
      </p:sp>
      <p:sp>
        <p:nvSpPr>
          <p:cNvPr id="6" name="AutoShape 6"/>
          <p:cNvSpPr/>
          <p:nvPr/>
        </p:nvSpPr>
        <p:spPr>
          <a:xfrm>
            <a:off x="11795760" y="1047750"/>
            <a:ext cx="6492240" cy="0"/>
          </a:xfrm>
          <a:prstGeom prst="line">
            <a:avLst/>
          </a:prstGeom>
          <a:ln w="38100" cap="flat">
            <a:solidFill>
              <a:srgbClr val="000000"/>
            </a:solidFill>
            <a:prstDash val="solid"/>
            <a:headEnd type="none" w="sm" len="sm"/>
            <a:tailEnd type="none" w="sm" len="sm"/>
          </a:ln>
        </p:spPr>
      </p:sp>
      <p:sp>
        <p:nvSpPr>
          <p:cNvPr id="7" name="TextBox 7"/>
          <p:cNvSpPr txBox="1"/>
          <p:nvPr/>
        </p:nvSpPr>
        <p:spPr>
          <a:xfrm>
            <a:off x="7572364" y="6072194"/>
            <a:ext cx="6506902" cy="747962"/>
          </a:xfrm>
          <a:prstGeom prst="rect">
            <a:avLst/>
          </a:prstGeom>
        </p:spPr>
        <p:txBody>
          <a:bodyPr wrap="square" lIns="0" tIns="0" rIns="0" bIns="0" rtlCol="0" anchor="t">
            <a:spAutoFit/>
          </a:bodyPr>
          <a:lstStyle/>
          <a:p>
            <a:pPr algn="ctr">
              <a:lnSpc>
                <a:spcPts val="6425"/>
              </a:lnSpc>
            </a:pPr>
            <a:r>
              <a:rPr lang="en-US" sz="4000" dirty="0">
                <a:solidFill>
                  <a:srgbClr val="000000"/>
                </a:solidFill>
                <a:latin typeface="Canva Sans"/>
                <a:ea typeface="Canva Sans"/>
                <a:cs typeface="Canva Sans"/>
                <a:sym typeface="Canva Sans"/>
              </a:rPr>
              <a:t>PRESENTED BY:</a:t>
            </a:r>
          </a:p>
        </p:txBody>
      </p:sp>
      <p:sp>
        <p:nvSpPr>
          <p:cNvPr id="9" name="AutoShape 9"/>
          <p:cNvSpPr/>
          <p:nvPr/>
        </p:nvSpPr>
        <p:spPr>
          <a:xfrm flipV="1">
            <a:off x="9285701" y="5715004"/>
            <a:ext cx="9002299" cy="0"/>
          </a:xfrm>
          <a:prstGeom prst="line">
            <a:avLst/>
          </a:prstGeom>
          <a:ln w="38100" cap="flat">
            <a:solidFill>
              <a:srgbClr val="000000"/>
            </a:solidFill>
            <a:prstDash val="sysDash"/>
            <a:headEnd type="none" w="sm" len="sm"/>
            <a:tailEnd type="none" w="sm" len="sm"/>
          </a:ln>
        </p:spPr>
      </p:sp>
      <p:sp>
        <p:nvSpPr>
          <p:cNvPr id="10" name="AutoShape 10"/>
          <p:cNvSpPr/>
          <p:nvPr/>
        </p:nvSpPr>
        <p:spPr>
          <a:xfrm>
            <a:off x="0" y="9358342"/>
            <a:ext cx="9002299" cy="0"/>
          </a:xfrm>
          <a:prstGeom prst="line">
            <a:avLst/>
          </a:prstGeom>
          <a:ln w="38100" cap="flat">
            <a:solidFill>
              <a:srgbClr val="000000"/>
            </a:solidFill>
            <a:prstDash val="sysDash"/>
            <a:headEnd type="none" w="sm" len="sm"/>
            <a:tailEnd type="none" w="sm" len="sm"/>
          </a:ln>
        </p:spPr>
      </p:sp>
      <p:sp>
        <p:nvSpPr>
          <p:cNvPr id="11" name="TextBox 10"/>
          <p:cNvSpPr txBox="1"/>
          <p:nvPr/>
        </p:nvSpPr>
        <p:spPr>
          <a:xfrm>
            <a:off x="714316" y="6929450"/>
            <a:ext cx="8143932" cy="1938992"/>
          </a:xfrm>
          <a:prstGeom prst="rect">
            <a:avLst/>
          </a:prstGeom>
          <a:noFill/>
        </p:spPr>
        <p:txBody>
          <a:bodyPr wrap="square" rtlCol="0">
            <a:spAutoFit/>
          </a:bodyPr>
          <a:lstStyle/>
          <a:p>
            <a:r>
              <a:rPr lang="en-US" sz="4000" dirty="0" smtClean="0"/>
              <a:t>UNDER</a:t>
            </a:r>
            <a:r>
              <a:rPr lang="en-US" sz="3600" dirty="0" smtClean="0"/>
              <a:t> </a:t>
            </a:r>
            <a:r>
              <a:rPr lang="en-US" sz="4000" dirty="0" smtClean="0"/>
              <a:t>THE GUIDANCE OF: </a:t>
            </a:r>
          </a:p>
          <a:p>
            <a:r>
              <a:rPr lang="en-US" sz="3600" dirty="0" smtClean="0"/>
              <a:t>                                </a:t>
            </a:r>
            <a:r>
              <a:rPr lang="en-US" sz="4000" dirty="0" smtClean="0"/>
              <a:t>Dr </a:t>
            </a:r>
            <a:r>
              <a:rPr lang="en-US" sz="4000" dirty="0" err="1" smtClean="0"/>
              <a:t>Punyaban</a:t>
            </a:r>
            <a:r>
              <a:rPr lang="en-US" sz="4000" dirty="0" smtClean="0"/>
              <a:t> Patel</a:t>
            </a:r>
          </a:p>
          <a:p>
            <a:r>
              <a:rPr lang="en-US" sz="4000" dirty="0" smtClean="0"/>
              <a:t>                         </a:t>
            </a:r>
            <a:r>
              <a:rPr lang="en-US" sz="4000" smtClean="0"/>
              <a:t>( </a:t>
            </a:r>
            <a:r>
              <a:rPr lang="en-IN" sz="4000" smtClean="0"/>
              <a:t>Professor</a:t>
            </a:r>
            <a:r>
              <a:rPr lang="en-IN" sz="4000" dirty="0" smtClean="0"/>
              <a:t>)</a:t>
            </a:r>
            <a:endParaRPr lang="en-US" sz="3200" dirty="0"/>
          </a:p>
        </p:txBody>
      </p:sp>
      <p:sp>
        <p:nvSpPr>
          <p:cNvPr id="12" name="TextBox 11"/>
          <p:cNvSpPr txBox="1"/>
          <p:nvPr/>
        </p:nvSpPr>
        <p:spPr>
          <a:xfrm>
            <a:off x="9715504" y="7143764"/>
            <a:ext cx="7929618" cy="2308324"/>
          </a:xfrm>
          <a:prstGeom prst="rect">
            <a:avLst/>
          </a:prstGeom>
          <a:noFill/>
        </p:spPr>
        <p:txBody>
          <a:bodyPr wrap="square" rtlCol="0">
            <a:spAutoFit/>
          </a:bodyPr>
          <a:lstStyle/>
          <a:p>
            <a:r>
              <a:rPr lang="en-US" sz="3600" dirty="0" smtClean="0"/>
              <a:t>RISHITH KUMAR SHETTY  [247R1A05B8]</a:t>
            </a:r>
          </a:p>
          <a:p>
            <a:r>
              <a:rPr lang="en-US" sz="3600" dirty="0" smtClean="0"/>
              <a:t>GURRALA SAI SUDHA  [247R1A0586]</a:t>
            </a:r>
          </a:p>
          <a:p>
            <a:r>
              <a:rPr lang="en-US" sz="3600" dirty="0" smtClean="0"/>
              <a:t>LOKAM SHRUTHILAYA  [247R1A0599]</a:t>
            </a:r>
          </a:p>
          <a:p>
            <a:endParaRPr lang="en-US" sz="36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028700" y="2394584"/>
            <a:ext cx="16269496" cy="6863716"/>
          </a:xfrm>
          <a:prstGeom prst="rect">
            <a:avLst/>
          </a:prstGeom>
        </p:spPr>
        <p:txBody>
          <a:bodyPr lIns="0" tIns="0" rIns="0" bIns="0" rtlCol="0" anchor="t">
            <a:spAutoFit/>
          </a:bodyPr>
          <a:lstStyle/>
          <a:p>
            <a:pPr algn="l">
              <a:lnSpc>
                <a:spcPts val="6839"/>
              </a:lnSpc>
            </a:pPr>
            <a:r>
              <a:rPr lang="en-US" sz="3799">
                <a:solidFill>
                  <a:srgbClr val="000000"/>
                </a:solidFill>
                <a:latin typeface="Canva Sans"/>
                <a:ea typeface="Canva Sans"/>
                <a:cs typeface="Canva Sans"/>
                <a:sym typeface="Canva Sans"/>
              </a:rPr>
              <a:t>Image Steganography is a method of hiding information within digital images to ensure secure communication. Leveraging advancements in deep learning, Convolutional Neural Networks (CNNs) are now used to create encoder-decoder models for embedding and retrieving secret messages. This approach enhances the robustness and efficiency of steganography compared to traditional methods. The CNN-based models not only allow precise encoding but also improve the quality of the decoded images.</a:t>
            </a:r>
          </a:p>
        </p:txBody>
      </p:sp>
      <p:sp>
        <p:nvSpPr>
          <p:cNvPr id="4" name="TextBox 4"/>
          <p:cNvSpPr txBox="1"/>
          <p:nvPr/>
        </p:nvSpPr>
        <p:spPr>
          <a:xfrm>
            <a:off x="540682" y="792624"/>
            <a:ext cx="6020953"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INTRODUCTION:</a:t>
            </a:r>
          </a:p>
        </p:txBody>
      </p:sp>
      <p:sp>
        <p:nvSpPr>
          <p:cNvPr id="5" name="AutoShape 5"/>
          <p:cNvSpPr/>
          <p:nvPr/>
        </p:nvSpPr>
        <p:spPr>
          <a:xfrm>
            <a:off x="668193" y="1668224"/>
            <a:ext cx="5648309" cy="11496"/>
          </a:xfrm>
          <a:prstGeom prst="line">
            <a:avLst/>
          </a:prstGeom>
          <a:ln w="38100" cap="flat">
            <a:solidFill>
              <a:srgbClr val="000000"/>
            </a:solidFill>
            <a:prstDash val="solid"/>
            <a:headEnd type="none" w="sm" len="sm"/>
            <a:tailEnd type="none" w="sm" len="sm"/>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65396" y="537527"/>
            <a:ext cx="7002485"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EXISTING SYSTEM:</a:t>
            </a:r>
          </a:p>
        </p:txBody>
      </p:sp>
      <p:sp>
        <p:nvSpPr>
          <p:cNvPr id="4" name="TextBox 4"/>
          <p:cNvSpPr txBox="1"/>
          <p:nvPr/>
        </p:nvSpPr>
        <p:spPr>
          <a:xfrm>
            <a:off x="1478672" y="2674486"/>
            <a:ext cx="16034786" cy="4262742"/>
          </a:xfrm>
          <a:prstGeom prst="rect">
            <a:avLst/>
          </a:prstGeom>
        </p:spPr>
        <p:txBody>
          <a:bodyPr lIns="0" tIns="0" rIns="0" bIns="0" rtlCol="0" anchor="t">
            <a:spAutoFit/>
          </a:bodyPr>
          <a:lstStyle/>
          <a:p>
            <a:pPr algn="l">
              <a:lnSpc>
                <a:spcPts val="6855"/>
              </a:lnSpc>
            </a:pPr>
            <a:r>
              <a:rPr lang="en-US" sz="3808">
                <a:solidFill>
                  <a:srgbClr val="000000"/>
                </a:solidFill>
                <a:latin typeface="Canva Sans"/>
                <a:ea typeface="Canva Sans"/>
                <a:cs typeface="Canva Sans"/>
                <a:sym typeface="Canva Sans"/>
              </a:rPr>
              <a:t>Traditional image steganography uses methods like Least Significant Bit (LSB) and Discrete Cosine Transform (DCT) to hide data in images. However, these methods have problems such as low data capacity, weak resistance to attacks, and reduced image quality. They are also less adaptable for modern secure communication needs.</a:t>
            </a:r>
          </a:p>
        </p:txBody>
      </p:sp>
      <p:sp>
        <p:nvSpPr>
          <p:cNvPr id="5" name="AutoShape 5"/>
          <p:cNvSpPr/>
          <p:nvPr/>
        </p:nvSpPr>
        <p:spPr>
          <a:xfrm>
            <a:off x="831729" y="1424623"/>
            <a:ext cx="6353209" cy="0"/>
          </a:xfrm>
          <a:prstGeom prst="line">
            <a:avLst/>
          </a:prstGeom>
          <a:ln w="38100" cap="flat">
            <a:solidFill>
              <a:srgbClr val="000000"/>
            </a:solidFill>
            <a:prstDash val="solid"/>
            <a:headEnd type="none" w="sm" len="sm"/>
            <a:tailEnd type="none" w="sm" len="sm"/>
          </a:ln>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416867" y="1320618"/>
            <a:ext cx="15607863" cy="887095"/>
          </a:xfrm>
          <a:prstGeom prst="rect">
            <a:avLst/>
          </a:prstGeom>
        </p:spPr>
        <p:txBody>
          <a:bodyPr lIns="0" tIns="0" rIns="0" bIns="0" rtlCol="0" anchor="t">
            <a:spAutoFit/>
          </a:bodyPr>
          <a:lstStyle/>
          <a:p>
            <a:pPr algn="ctr">
              <a:lnSpc>
                <a:spcPts val="7279"/>
              </a:lnSpc>
              <a:spcBef>
                <a:spcPct val="0"/>
              </a:spcBef>
            </a:pPr>
            <a:r>
              <a:rPr lang="en-US" sz="5199" b="1">
                <a:solidFill>
                  <a:srgbClr val="000000"/>
                </a:solidFill>
                <a:latin typeface="Canva Sans Bold"/>
                <a:ea typeface="Canva Sans Bold"/>
                <a:cs typeface="Canva Sans Bold"/>
                <a:sym typeface="Canva Sans Bold"/>
              </a:rPr>
              <a:t>Problems of Traditional Image Steganography</a:t>
            </a:r>
          </a:p>
        </p:txBody>
      </p:sp>
      <p:sp>
        <p:nvSpPr>
          <p:cNvPr id="4" name="TextBox 4"/>
          <p:cNvSpPr txBox="1"/>
          <p:nvPr/>
        </p:nvSpPr>
        <p:spPr>
          <a:xfrm>
            <a:off x="1416867" y="3362209"/>
            <a:ext cx="16125381" cy="3333981"/>
          </a:xfrm>
          <a:prstGeom prst="rect">
            <a:avLst/>
          </a:prstGeom>
        </p:spPr>
        <p:txBody>
          <a:bodyPr lIns="0" tIns="0" rIns="0" bIns="0" rtlCol="0" anchor="t">
            <a:spAutoFit/>
          </a:bodyPr>
          <a:lstStyle/>
          <a:p>
            <a:pPr marL="806338" lvl="1" indent="-403169" algn="l">
              <a:lnSpc>
                <a:spcPts val="6722"/>
              </a:lnSpc>
              <a:buFont typeface="Arial"/>
              <a:buChar char="•"/>
            </a:pPr>
            <a:r>
              <a:rPr lang="en-US" sz="3734">
                <a:solidFill>
                  <a:srgbClr val="000000"/>
                </a:solidFill>
                <a:latin typeface="Canva Sans"/>
                <a:ea typeface="Canva Sans"/>
                <a:cs typeface="Canva Sans"/>
                <a:sym typeface="Canva Sans"/>
              </a:rPr>
              <a:t>Low data hiding capacity (limited payload).</a:t>
            </a:r>
          </a:p>
          <a:p>
            <a:pPr marL="806338" lvl="1" indent="-403169" algn="l">
              <a:lnSpc>
                <a:spcPts val="6722"/>
              </a:lnSpc>
              <a:buFont typeface="Arial"/>
              <a:buChar char="•"/>
            </a:pPr>
            <a:r>
              <a:rPr lang="en-US" sz="3734">
                <a:solidFill>
                  <a:srgbClr val="000000"/>
                </a:solidFill>
                <a:latin typeface="Canva Sans"/>
                <a:ea typeface="Canva Sans"/>
                <a:cs typeface="Canva Sans"/>
                <a:sym typeface="Canva Sans"/>
              </a:rPr>
              <a:t>Easily affected by attacks like noise, compression, or cropping.</a:t>
            </a:r>
          </a:p>
          <a:p>
            <a:pPr marL="806338" lvl="1" indent="-403169" algn="l">
              <a:lnSpc>
                <a:spcPts val="6722"/>
              </a:lnSpc>
              <a:buFont typeface="Arial"/>
              <a:buChar char="•"/>
            </a:pPr>
            <a:r>
              <a:rPr lang="en-US" sz="3734">
                <a:solidFill>
                  <a:srgbClr val="000000"/>
                </a:solidFill>
                <a:latin typeface="Canva Sans"/>
                <a:ea typeface="Canva Sans"/>
                <a:cs typeface="Canva Sans"/>
                <a:sym typeface="Canva Sans"/>
              </a:rPr>
              <a:t>Image quality may decrease after embedding data.</a:t>
            </a:r>
          </a:p>
          <a:p>
            <a:pPr marL="806338" lvl="1" indent="-403169" algn="l">
              <a:lnSpc>
                <a:spcPts val="6722"/>
              </a:lnSpc>
              <a:buFont typeface="Arial"/>
              <a:buChar char="•"/>
            </a:pPr>
            <a:r>
              <a:rPr lang="en-US" sz="3734">
                <a:solidFill>
                  <a:srgbClr val="000000"/>
                </a:solidFill>
                <a:latin typeface="Canva Sans"/>
                <a:ea typeface="Canva Sans"/>
                <a:cs typeface="Canva Sans"/>
                <a:sym typeface="Canva Sans"/>
              </a:rPr>
              <a:t>Security is weaker and easier to detect</a:t>
            </a:r>
          </a:p>
        </p:txBody>
      </p:sp>
      <p:sp>
        <p:nvSpPr>
          <p:cNvPr id="5" name="AutoShape 5"/>
          <p:cNvSpPr/>
          <p:nvPr/>
        </p:nvSpPr>
        <p:spPr>
          <a:xfrm>
            <a:off x="1855044" y="2207713"/>
            <a:ext cx="14679965"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4345" y="537527"/>
            <a:ext cx="6425419" cy="887095"/>
          </a:xfrm>
          <a:prstGeom prst="rect">
            <a:avLst/>
          </a:prstGeom>
        </p:spPr>
        <p:txBody>
          <a:bodyPr lIns="0" tIns="0" rIns="0" bIns="0" rtlCol="0" anchor="t">
            <a:spAutoFit/>
          </a:bodyPr>
          <a:lstStyle/>
          <a:p>
            <a:pPr algn="ctr">
              <a:lnSpc>
                <a:spcPts val="7279"/>
              </a:lnSpc>
              <a:spcBef>
                <a:spcPct val="0"/>
              </a:spcBef>
            </a:pPr>
            <a:r>
              <a:rPr lang="en-US" sz="5199" b="1">
                <a:solidFill>
                  <a:srgbClr val="000000"/>
                </a:solidFill>
                <a:latin typeface="Canva Sans Bold"/>
                <a:ea typeface="Canva Sans Bold"/>
                <a:cs typeface="Canva Sans Bold"/>
                <a:sym typeface="Canva Sans Bold"/>
              </a:rPr>
              <a:t>Proposed System:</a:t>
            </a:r>
          </a:p>
        </p:txBody>
      </p:sp>
      <p:sp>
        <p:nvSpPr>
          <p:cNvPr id="4" name="TextBox 4"/>
          <p:cNvSpPr txBox="1"/>
          <p:nvPr/>
        </p:nvSpPr>
        <p:spPr>
          <a:xfrm>
            <a:off x="1572363" y="1684401"/>
            <a:ext cx="15686937" cy="7573899"/>
          </a:xfrm>
          <a:prstGeom prst="rect">
            <a:avLst/>
          </a:prstGeom>
        </p:spPr>
        <p:txBody>
          <a:bodyPr lIns="0" tIns="0" rIns="0" bIns="0" rtlCol="0" anchor="t">
            <a:spAutoFit/>
          </a:bodyPr>
          <a:lstStyle/>
          <a:p>
            <a:pPr marL="805306" lvl="1" indent="-402653" algn="l">
              <a:lnSpc>
                <a:spcPts val="6713"/>
              </a:lnSpc>
              <a:buFont typeface="Arial"/>
              <a:buChar char="•"/>
            </a:pPr>
            <a:r>
              <a:rPr lang="en-US" sz="3729">
                <a:solidFill>
                  <a:srgbClr val="000000"/>
                </a:solidFill>
                <a:latin typeface="Canva Sans"/>
                <a:ea typeface="Canva Sans"/>
                <a:cs typeface="Canva Sans"/>
                <a:sym typeface="Canva Sans"/>
              </a:rPr>
              <a:t>The proposed system uses a Convolutional Neural Network (CNN)-based encoder–decoder model for image steganography.</a:t>
            </a:r>
          </a:p>
          <a:p>
            <a:pPr marL="805306" lvl="1" indent="-402653" algn="l">
              <a:lnSpc>
                <a:spcPts val="6713"/>
              </a:lnSpc>
              <a:buFont typeface="Arial"/>
              <a:buChar char="•"/>
            </a:pPr>
            <a:r>
              <a:rPr lang="en-US" sz="3729">
                <a:solidFill>
                  <a:srgbClr val="000000"/>
                </a:solidFill>
                <a:latin typeface="Canva Sans"/>
                <a:ea typeface="Canva Sans"/>
                <a:cs typeface="Canva Sans"/>
                <a:sym typeface="Canva Sans"/>
              </a:rPr>
              <a:t>The encoder hides the secret message inside the image.</a:t>
            </a:r>
          </a:p>
          <a:p>
            <a:pPr marL="805306" lvl="1" indent="-402653" algn="l">
              <a:lnSpc>
                <a:spcPts val="6713"/>
              </a:lnSpc>
              <a:buFont typeface="Arial"/>
              <a:buChar char="•"/>
            </a:pPr>
            <a:r>
              <a:rPr lang="en-US" sz="3729">
                <a:solidFill>
                  <a:srgbClr val="000000"/>
                </a:solidFill>
                <a:latin typeface="Canva Sans"/>
                <a:ea typeface="Canva Sans"/>
                <a:cs typeface="Canva Sans"/>
                <a:sym typeface="Canva Sans"/>
              </a:rPr>
              <a:t>The decoder extracts the hidden message from the stego image.</a:t>
            </a:r>
          </a:p>
          <a:p>
            <a:pPr marL="805306" lvl="1" indent="-402653" algn="l">
              <a:lnSpc>
                <a:spcPts val="6713"/>
              </a:lnSpc>
              <a:buFont typeface="Arial"/>
              <a:buChar char="•"/>
            </a:pPr>
            <a:r>
              <a:rPr lang="en-US" sz="3729">
                <a:solidFill>
                  <a:srgbClr val="000000"/>
                </a:solidFill>
                <a:latin typeface="Canva Sans"/>
                <a:ea typeface="Canva Sans"/>
                <a:cs typeface="Canva Sans"/>
                <a:sym typeface="Canva Sans"/>
              </a:rPr>
              <a:t>CNN learns image features automatically to improve embedding and extraction.</a:t>
            </a:r>
          </a:p>
          <a:p>
            <a:pPr marL="805306" lvl="1" indent="-402653" algn="l">
              <a:lnSpc>
                <a:spcPts val="6713"/>
              </a:lnSpc>
              <a:buFont typeface="Arial"/>
              <a:buChar char="•"/>
            </a:pPr>
            <a:r>
              <a:rPr lang="en-US" sz="3729">
                <a:solidFill>
                  <a:srgbClr val="000000"/>
                </a:solidFill>
                <a:latin typeface="Canva Sans"/>
                <a:ea typeface="Canva Sans"/>
                <a:cs typeface="Canva Sans"/>
                <a:sym typeface="Canva Sans"/>
              </a:rPr>
              <a:t>The system maintains image quality while securely hiding data.</a:t>
            </a:r>
          </a:p>
          <a:p>
            <a:pPr marL="805306" lvl="1" indent="-402653" algn="l">
              <a:lnSpc>
                <a:spcPts val="6713"/>
              </a:lnSpc>
              <a:buFont typeface="Arial"/>
              <a:buChar char="•"/>
            </a:pPr>
            <a:r>
              <a:rPr lang="en-US" sz="3729">
                <a:solidFill>
                  <a:srgbClr val="000000"/>
                </a:solidFill>
                <a:latin typeface="Canva Sans"/>
                <a:ea typeface="Canva Sans"/>
                <a:cs typeface="Canva Sans"/>
                <a:sym typeface="Canva Sans"/>
              </a:rPr>
              <a:t>It provides better accuracy, security, and robustness compared to traditional methods.</a:t>
            </a:r>
          </a:p>
        </p:txBody>
      </p:sp>
      <p:sp>
        <p:nvSpPr>
          <p:cNvPr id="5" name="AutoShape 5"/>
          <p:cNvSpPr/>
          <p:nvPr/>
        </p:nvSpPr>
        <p:spPr>
          <a:xfrm>
            <a:off x="683652" y="1424623"/>
            <a:ext cx="5832577"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97556" y="1329373"/>
            <a:ext cx="6425419" cy="887095"/>
          </a:xfrm>
          <a:prstGeom prst="rect">
            <a:avLst/>
          </a:prstGeom>
        </p:spPr>
        <p:txBody>
          <a:bodyPr lIns="0" tIns="0" rIns="0" bIns="0" rtlCol="0" anchor="t">
            <a:spAutoFit/>
          </a:bodyPr>
          <a:lstStyle/>
          <a:p>
            <a:pPr algn="ctr">
              <a:lnSpc>
                <a:spcPts val="7279"/>
              </a:lnSpc>
              <a:spcBef>
                <a:spcPct val="0"/>
              </a:spcBef>
            </a:pPr>
            <a:r>
              <a:rPr lang="en-US" sz="5199" b="1">
                <a:solidFill>
                  <a:srgbClr val="000000"/>
                </a:solidFill>
                <a:latin typeface="Canva Sans Bold"/>
                <a:ea typeface="Canva Sans Bold"/>
                <a:cs typeface="Canva Sans Bold"/>
                <a:sym typeface="Canva Sans Bold"/>
              </a:rPr>
              <a:t> ADVANTAGES:</a:t>
            </a:r>
          </a:p>
        </p:txBody>
      </p:sp>
      <p:sp>
        <p:nvSpPr>
          <p:cNvPr id="4" name="AutoShape 4"/>
          <p:cNvSpPr/>
          <p:nvPr/>
        </p:nvSpPr>
        <p:spPr>
          <a:xfrm flipV="1">
            <a:off x="1028700" y="2216468"/>
            <a:ext cx="4830962" cy="0"/>
          </a:xfrm>
          <a:prstGeom prst="line">
            <a:avLst/>
          </a:prstGeom>
          <a:ln w="38100" cap="flat">
            <a:solidFill>
              <a:srgbClr val="000000"/>
            </a:solidFill>
            <a:prstDash val="solid"/>
            <a:headEnd type="none" w="sm" len="sm"/>
            <a:tailEnd type="none" w="sm" len="sm"/>
          </a:ln>
        </p:spPr>
      </p:sp>
      <p:sp>
        <p:nvSpPr>
          <p:cNvPr id="5" name="TextBox 5"/>
          <p:cNvSpPr txBox="1"/>
          <p:nvPr/>
        </p:nvSpPr>
        <p:spPr>
          <a:xfrm>
            <a:off x="1947386" y="2990109"/>
            <a:ext cx="15311914" cy="5246371"/>
          </a:xfrm>
          <a:prstGeom prst="rect">
            <a:avLst/>
          </a:prstGeom>
        </p:spPr>
        <p:txBody>
          <a:bodyPr lIns="0" tIns="0" rIns="0" bIns="0" rtlCol="0" anchor="t">
            <a:spAutoFit/>
          </a:bodyPr>
          <a:lstStyle/>
          <a:p>
            <a:pPr marL="842007" lvl="1" indent="-421003" algn="l">
              <a:lnSpc>
                <a:spcPts val="7019"/>
              </a:lnSpc>
              <a:buFont typeface="Arial"/>
              <a:buChar char="•"/>
            </a:pPr>
            <a:r>
              <a:rPr lang="en-US" sz="3899" dirty="0">
                <a:solidFill>
                  <a:srgbClr val="000000"/>
                </a:solidFill>
                <a:latin typeface="Canva Sans"/>
                <a:ea typeface="Canva Sans"/>
                <a:cs typeface="Canva Sans"/>
                <a:sym typeface="Canva Sans"/>
              </a:rPr>
              <a:t>High payload capacity for embedding larger messages.</a:t>
            </a:r>
          </a:p>
          <a:p>
            <a:pPr marL="842007" lvl="1" indent="-421003" algn="l">
              <a:lnSpc>
                <a:spcPts val="7019"/>
              </a:lnSpc>
              <a:buFont typeface="Arial"/>
              <a:buChar char="•"/>
            </a:pPr>
            <a:r>
              <a:rPr lang="en-US" sz="3899" dirty="0">
                <a:solidFill>
                  <a:srgbClr val="000000"/>
                </a:solidFill>
                <a:latin typeface="Canva Sans"/>
                <a:ea typeface="Canva Sans"/>
                <a:cs typeface="Canva Sans"/>
                <a:sym typeface="Canva Sans"/>
              </a:rPr>
              <a:t>Enhanced robustness against various attacks and distortions.</a:t>
            </a:r>
          </a:p>
          <a:p>
            <a:pPr marL="842007" lvl="1" indent="-421003" algn="l">
              <a:lnSpc>
                <a:spcPts val="7019"/>
              </a:lnSpc>
              <a:buFont typeface="Arial"/>
              <a:buChar char="•"/>
            </a:pPr>
            <a:r>
              <a:rPr lang="en-US" sz="3899" dirty="0">
                <a:solidFill>
                  <a:srgbClr val="000000"/>
                </a:solidFill>
                <a:latin typeface="Canva Sans"/>
                <a:ea typeface="Canva Sans"/>
                <a:cs typeface="Canva Sans"/>
                <a:sym typeface="Canva Sans"/>
              </a:rPr>
              <a:t>Maintains the visual quality of the carrier image.</a:t>
            </a:r>
          </a:p>
          <a:p>
            <a:pPr marL="842007" lvl="1" indent="-421003" algn="l">
              <a:lnSpc>
                <a:spcPts val="7019"/>
              </a:lnSpc>
              <a:buFont typeface="Arial"/>
              <a:buChar char="•"/>
            </a:pPr>
            <a:r>
              <a:rPr lang="en-US" sz="3899" dirty="0">
                <a:solidFill>
                  <a:srgbClr val="000000"/>
                </a:solidFill>
                <a:latin typeface="Canva Sans"/>
                <a:ea typeface="Canva Sans"/>
                <a:cs typeface="Canva Sans"/>
                <a:sym typeface="Canva Sans"/>
              </a:rPr>
              <a:t>Increased retrieval accuracy with minimal data loss.</a:t>
            </a:r>
          </a:p>
          <a:p>
            <a:pPr marL="842007" lvl="1" indent="-421003" algn="l">
              <a:lnSpc>
                <a:spcPts val="7019"/>
              </a:lnSpc>
              <a:buFont typeface="Arial"/>
              <a:buChar char="•"/>
            </a:pPr>
            <a:r>
              <a:rPr lang="en-US" sz="3899" dirty="0">
                <a:solidFill>
                  <a:srgbClr val="000000"/>
                </a:solidFill>
                <a:latin typeface="Canva Sans"/>
                <a:ea typeface="Canva Sans"/>
                <a:cs typeface="Canva Sans"/>
                <a:sym typeface="Canva Sans"/>
              </a:rPr>
              <a:t>Adaptive to diverse datasets and dynamic requirements.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04567" y="933450"/>
            <a:ext cx="8976113" cy="887095"/>
          </a:xfrm>
          <a:prstGeom prst="rect">
            <a:avLst/>
          </a:prstGeom>
        </p:spPr>
        <p:txBody>
          <a:bodyPr lIns="0" tIns="0" rIns="0" bIns="0" rtlCol="0" anchor="t">
            <a:spAutoFit/>
          </a:bodyPr>
          <a:lstStyle/>
          <a:p>
            <a:pPr algn="ctr">
              <a:lnSpc>
                <a:spcPts val="7279"/>
              </a:lnSpc>
              <a:spcBef>
                <a:spcPct val="0"/>
              </a:spcBef>
            </a:pPr>
            <a:r>
              <a:rPr lang="en-US" sz="5199" b="1">
                <a:solidFill>
                  <a:srgbClr val="000000"/>
                </a:solidFill>
                <a:latin typeface="Canva Sans Bold"/>
                <a:ea typeface="Canva Sans Bold"/>
                <a:cs typeface="Canva Sans Bold"/>
                <a:sym typeface="Canva Sans Bold"/>
              </a:rPr>
              <a:t>SYSTEM REQUIREMENTS:</a:t>
            </a:r>
          </a:p>
        </p:txBody>
      </p:sp>
      <p:sp>
        <p:nvSpPr>
          <p:cNvPr id="4" name="AutoShape 4"/>
          <p:cNvSpPr/>
          <p:nvPr/>
        </p:nvSpPr>
        <p:spPr>
          <a:xfrm>
            <a:off x="4013433" y="1820545"/>
            <a:ext cx="8271158" cy="0"/>
          </a:xfrm>
          <a:prstGeom prst="line">
            <a:avLst/>
          </a:prstGeom>
          <a:ln w="38100" cap="flat">
            <a:solidFill>
              <a:srgbClr val="000000"/>
            </a:solidFill>
            <a:prstDash val="solid"/>
            <a:headEnd type="none" w="sm" len="sm"/>
            <a:tailEnd type="none" w="sm" len="sm"/>
          </a:ln>
        </p:spPr>
      </p:sp>
      <p:sp>
        <p:nvSpPr>
          <p:cNvPr id="5" name="TextBox 5"/>
          <p:cNvSpPr txBox="1"/>
          <p:nvPr/>
        </p:nvSpPr>
        <p:spPr>
          <a:xfrm>
            <a:off x="683454" y="2562343"/>
            <a:ext cx="9315443" cy="4952764"/>
          </a:xfrm>
          <a:prstGeom prst="rect">
            <a:avLst/>
          </a:prstGeom>
        </p:spPr>
        <p:txBody>
          <a:bodyPr lIns="0" tIns="0" rIns="0" bIns="0" rtlCol="0" anchor="t">
            <a:spAutoFit/>
          </a:bodyPr>
          <a:lstStyle/>
          <a:p>
            <a:pPr algn="l">
              <a:lnSpc>
                <a:spcPts val="6664"/>
              </a:lnSpc>
              <a:spcBef>
                <a:spcPct val="0"/>
              </a:spcBef>
            </a:pPr>
            <a:r>
              <a:rPr lang="en-US" sz="3702" b="1">
                <a:solidFill>
                  <a:srgbClr val="000000"/>
                </a:solidFill>
                <a:latin typeface="Canva Sans Bold"/>
                <a:ea typeface="Canva Sans Bold"/>
                <a:cs typeface="Canva Sans Bold"/>
                <a:sym typeface="Canva Sans Bold"/>
              </a:rPr>
              <a:t>HARDWARE REQUIREMENTS:</a:t>
            </a:r>
          </a:p>
          <a:p>
            <a:pPr algn="l">
              <a:lnSpc>
                <a:spcPts val="6664"/>
              </a:lnSpc>
              <a:spcBef>
                <a:spcPct val="0"/>
              </a:spcBef>
            </a:pPr>
            <a:r>
              <a:rPr lang="en-US" sz="3702">
                <a:solidFill>
                  <a:srgbClr val="000000"/>
                </a:solidFill>
                <a:latin typeface="Canva Sans"/>
                <a:ea typeface="Canva Sans"/>
                <a:cs typeface="Canva Sans"/>
                <a:sym typeface="Canva Sans"/>
              </a:rPr>
              <a:t>Ø System : Pentium Dual Core.</a:t>
            </a:r>
          </a:p>
          <a:p>
            <a:pPr algn="l">
              <a:lnSpc>
                <a:spcPts val="6664"/>
              </a:lnSpc>
              <a:spcBef>
                <a:spcPct val="0"/>
              </a:spcBef>
            </a:pPr>
            <a:r>
              <a:rPr lang="en-US" sz="3702">
                <a:solidFill>
                  <a:srgbClr val="000000"/>
                </a:solidFill>
                <a:latin typeface="Canva Sans"/>
                <a:ea typeface="Canva Sans"/>
                <a:cs typeface="Canva Sans"/>
                <a:sym typeface="Canva Sans"/>
              </a:rPr>
              <a:t>Ø Hard Disk : 120 GB.</a:t>
            </a:r>
          </a:p>
          <a:p>
            <a:pPr algn="l">
              <a:lnSpc>
                <a:spcPts val="6664"/>
              </a:lnSpc>
              <a:spcBef>
                <a:spcPct val="0"/>
              </a:spcBef>
            </a:pPr>
            <a:r>
              <a:rPr lang="en-US" sz="3702">
                <a:solidFill>
                  <a:srgbClr val="000000"/>
                </a:solidFill>
                <a:latin typeface="Canva Sans"/>
                <a:ea typeface="Canva Sans"/>
                <a:cs typeface="Canva Sans"/>
                <a:sym typeface="Canva Sans"/>
              </a:rPr>
              <a:t>Ø Monitor : 15’’ LED</a:t>
            </a:r>
          </a:p>
          <a:p>
            <a:pPr algn="l">
              <a:lnSpc>
                <a:spcPts val="6664"/>
              </a:lnSpc>
              <a:spcBef>
                <a:spcPct val="0"/>
              </a:spcBef>
            </a:pPr>
            <a:r>
              <a:rPr lang="en-US" sz="3702">
                <a:solidFill>
                  <a:srgbClr val="000000"/>
                </a:solidFill>
                <a:latin typeface="Canva Sans"/>
                <a:ea typeface="Canva Sans"/>
                <a:cs typeface="Canva Sans"/>
                <a:sym typeface="Canva Sans"/>
              </a:rPr>
              <a:t>Ø Input Devices : Keyboard, Mouse</a:t>
            </a:r>
          </a:p>
          <a:p>
            <a:pPr algn="l">
              <a:lnSpc>
                <a:spcPts val="6664"/>
              </a:lnSpc>
              <a:spcBef>
                <a:spcPct val="0"/>
              </a:spcBef>
            </a:pPr>
            <a:r>
              <a:rPr lang="en-US" sz="3702">
                <a:solidFill>
                  <a:srgbClr val="000000"/>
                </a:solidFill>
                <a:latin typeface="Canva Sans"/>
                <a:ea typeface="Canva Sans"/>
                <a:cs typeface="Canva Sans"/>
                <a:sym typeface="Canva Sans"/>
              </a:rPr>
              <a:t>Ø Ram : 1 GB</a:t>
            </a:r>
          </a:p>
        </p:txBody>
      </p:sp>
      <p:sp>
        <p:nvSpPr>
          <p:cNvPr id="6" name="TextBox 6"/>
          <p:cNvSpPr txBox="1"/>
          <p:nvPr/>
        </p:nvSpPr>
        <p:spPr>
          <a:xfrm>
            <a:off x="9506886" y="2545150"/>
            <a:ext cx="8781113" cy="5155257"/>
          </a:xfrm>
          <a:prstGeom prst="rect">
            <a:avLst/>
          </a:prstGeom>
        </p:spPr>
        <p:txBody>
          <a:bodyPr wrap="square" lIns="0" tIns="0" rIns="0" bIns="0" rtlCol="0" anchor="t">
            <a:spAutoFit/>
          </a:bodyPr>
          <a:lstStyle/>
          <a:p>
            <a:pPr algn="l">
              <a:lnSpc>
                <a:spcPts val="6656"/>
              </a:lnSpc>
              <a:spcBef>
                <a:spcPct val="0"/>
              </a:spcBef>
            </a:pPr>
            <a:r>
              <a:rPr lang="en-US" sz="3698" b="1" dirty="0">
                <a:solidFill>
                  <a:srgbClr val="000000"/>
                </a:solidFill>
                <a:latin typeface="Canva Sans Bold"/>
                <a:ea typeface="Canva Sans Bold"/>
                <a:cs typeface="Canva Sans Bold"/>
                <a:sym typeface="Canva Sans Bold"/>
              </a:rPr>
              <a:t>SOFTWARE REQUIREMENTS:</a:t>
            </a:r>
          </a:p>
          <a:p>
            <a:pPr algn="l">
              <a:lnSpc>
                <a:spcPts val="6656"/>
              </a:lnSpc>
              <a:spcBef>
                <a:spcPct val="0"/>
              </a:spcBef>
            </a:pPr>
            <a:r>
              <a:rPr lang="en-US" sz="3698" dirty="0">
                <a:solidFill>
                  <a:srgbClr val="000000"/>
                </a:solidFill>
                <a:latin typeface="Canva Sans"/>
                <a:ea typeface="Canva Sans"/>
                <a:cs typeface="Canva Sans"/>
                <a:sym typeface="Canva Sans"/>
              </a:rPr>
              <a:t>Ø Operating system : Windows 10/11.</a:t>
            </a:r>
          </a:p>
          <a:p>
            <a:pPr algn="l">
              <a:lnSpc>
                <a:spcPts val="6656"/>
              </a:lnSpc>
              <a:spcBef>
                <a:spcPct val="0"/>
              </a:spcBef>
            </a:pPr>
            <a:r>
              <a:rPr lang="en-US" sz="3698" dirty="0">
                <a:solidFill>
                  <a:srgbClr val="000000"/>
                </a:solidFill>
                <a:latin typeface="Canva Sans"/>
                <a:ea typeface="Canva Sans"/>
                <a:cs typeface="Canva Sans"/>
                <a:sym typeface="Canva Sans"/>
              </a:rPr>
              <a:t>Ø Coding Language : python</a:t>
            </a:r>
          </a:p>
          <a:p>
            <a:pPr algn="l">
              <a:lnSpc>
                <a:spcPts val="6656"/>
              </a:lnSpc>
              <a:spcBef>
                <a:spcPct val="0"/>
              </a:spcBef>
            </a:pPr>
            <a:r>
              <a:rPr lang="en-US" sz="3698" dirty="0">
                <a:solidFill>
                  <a:srgbClr val="000000"/>
                </a:solidFill>
                <a:latin typeface="Canva Sans"/>
                <a:ea typeface="Canva Sans"/>
                <a:cs typeface="Canva Sans"/>
                <a:sym typeface="Canva Sans"/>
              </a:rPr>
              <a:t>Ø Tool : </a:t>
            </a:r>
            <a:r>
              <a:rPr lang="en-US" sz="3698" dirty="0" err="1">
                <a:solidFill>
                  <a:srgbClr val="000000"/>
                </a:solidFill>
                <a:latin typeface="Canva Sans"/>
                <a:ea typeface="Canva Sans"/>
                <a:cs typeface="Canva Sans"/>
                <a:sym typeface="Canva Sans"/>
              </a:rPr>
              <a:t>pycharm</a:t>
            </a:r>
            <a:r>
              <a:rPr lang="en-US" sz="3698" dirty="0">
                <a:solidFill>
                  <a:srgbClr val="000000"/>
                </a:solidFill>
                <a:latin typeface="Canva Sans"/>
                <a:ea typeface="Canva Sans"/>
                <a:cs typeface="Canva Sans"/>
                <a:sym typeface="Canva Sans"/>
              </a:rPr>
              <a:t> </a:t>
            </a:r>
          </a:p>
          <a:p>
            <a:pPr algn="l">
              <a:lnSpc>
                <a:spcPts val="6656"/>
              </a:lnSpc>
              <a:spcBef>
                <a:spcPct val="0"/>
              </a:spcBef>
            </a:pPr>
            <a:r>
              <a:rPr lang="en-US" sz="3698" dirty="0">
                <a:solidFill>
                  <a:srgbClr val="000000"/>
                </a:solidFill>
                <a:latin typeface="Canva Sans"/>
                <a:ea typeface="Canva Sans"/>
                <a:cs typeface="Canva Sans"/>
                <a:sym typeface="Canva Sans"/>
              </a:rPr>
              <a:t>Ø Database : MYSQL</a:t>
            </a:r>
          </a:p>
          <a:p>
            <a:pPr algn="l">
              <a:lnSpc>
                <a:spcPts val="6656"/>
              </a:lnSpc>
              <a:spcBef>
                <a:spcPct val="0"/>
              </a:spcBef>
            </a:pPr>
            <a:r>
              <a:rPr lang="en-US" sz="3698" dirty="0">
                <a:solidFill>
                  <a:srgbClr val="000000"/>
                </a:solidFill>
                <a:latin typeface="Canva Sans"/>
                <a:ea typeface="Canva Sans"/>
                <a:cs typeface="Canva Sans"/>
                <a:sym typeface="Canva Sans"/>
              </a:rPr>
              <a:t>Ø framework : </a:t>
            </a:r>
            <a:r>
              <a:rPr lang="en-US" sz="3698" dirty="0" err="1">
                <a:solidFill>
                  <a:srgbClr val="000000"/>
                </a:solidFill>
                <a:latin typeface="Canva Sans"/>
                <a:ea typeface="Canva Sans"/>
                <a:cs typeface="Canva Sans"/>
                <a:sym typeface="Canva Sans"/>
              </a:rPr>
              <a:t>django</a:t>
            </a:r>
            <a:endParaRPr lang="en-US" sz="3698" dirty="0">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81211" y="141605"/>
            <a:ext cx="8155629"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Novelty of the Project:</a:t>
            </a:r>
          </a:p>
        </p:txBody>
      </p:sp>
      <p:sp>
        <p:nvSpPr>
          <p:cNvPr id="4" name="AutoShape 4"/>
          <p:cNvSpPr/>
          <p:nvPr/>
        </p:nvSpPr>
        <p:spPr>
          <a:xfrm>
            <a:off x="566354" y="1028700"/>
            <a:ext cx="7444541" cy="0"/>
          </a:xfrm>
          <a:prstGeom prst="line">
            <a:avLst/>
          </a:prstGeom>
          <a:ln w="38100" cap="flat">
            <a:solidFill>
              <a:srgbClr val="000000"/>
            </a:solidFill>
            <a:prstDash val="solid"/>
            <a:headEnd type="none" w="sm" len="sm"/>
            <a:tailEnd type="none" w="sm" len="sm"/>
          </a:ln>
        </p:spPr>
      </p:sp>
      <p:sp>
        <p:nvSpPr>
          <p:cNvPr id="5" name="TextBox 5"/>
          <p:cNvSpPr txBox="1"/>
          <p:nvPr/>
        </p:nvSpPr>
        <p:spPr>
          <a:xfrm>
            <a:off x="1677811" y="1607573"/>
            <a:ext cx="14324189" cy="7471411"/>
          </a:xfrm>
          <a:prstGeom prst="rect">
            <a:avLst/>
          </a:prstGeom>
        </p:spPr>
        <p:txBody>
          <a:bodyPr lIns="0" tIns="0" rIns="0" bIns="0" rtlCol="0" anchor="t">
            <a:spAutoFit/>
          </a:bodyPr>
          <a:lstStyle/>
          <a:p>
            <a:pPr marL="798828" lvl="1" indent="-399414" algn="just">
              <a:lnSpc>
                <a:spcPts val="6659"/>
              </a:lnSpc>
              <a:buFont typeface="Arial"/>
              <a:buChar char="•"/>
            </a:pPr>
            <a:r>
              <a:rPr lang="en-US" sz="3699">
                <a:solidFill>
                  <a:srgbClr val="000000"/>
                </a:solidFill>
                <a:latin typeface="Canva Sans"/>
                <a:ea typeface="Canva Sans"/>
                <a:cs typeface="Canva Sans"/>
                <a:sym typeface="Canva Sans"/>
              </a:rPr>
              <a:t>Uses deep learning instead of traditional steganography methods.</a:t>
            </a:r>
          </a:p>
          <a:p>
            <a:pPr marL="798828" lvl="1" indent="-399414" algn="just">
              <a:lnSpc>
                <a:spcPts val="6659"/>
              </a:lnSpc>
              <a:buFont typeface="Arial"/>
              <a:buChar char="•"/>
            </a:pPr>
            <a:r>
              <a:rPr lang="en-US" sz="3699">
                <a:solidFill>
                  <a:srgbClr val="000000"/>
                </a:solidFill>
                <a:latin typeface="Canva Sans"/>
                <a:ea typeface="Canva Sans"/>
                <a:cs typeface="Canva Sans"/>
                <a:sym typeface="Canva Sans"/>
              </a:rPr>
              <a:t>Combines Convolutional Neural Network (CNN) with an encoder–decoder architecture for better data hiding and extraction.</a:t>
            </a:r>
          </a:p>
          <a:p>
            <a:pPr marL="798828" lvl="1" indent="-399414" algn="just">
              <a:lnSpc>
                <a:spcPts val="6659"/>
              </a:lnSpc>
              <a:buFont typeface="Arial"/>
              <a:buChar char="•"/>
            </a:pPr>
            <a:r>
              <a:rPr lang="en-US" sz="3699">
                <a:solidFill>
                  <a:srgbClr val="000000"/>
                </a:solidFill>
                <a:latin typeface="Canva Sans"/>
                <a:ea typeface="Canva Sans"/>
                <a:cs typeface="Canva Sans"/>
                <a:sym typeface="Canva Sans"/>
              </a:rPr>
              <a:t>Maintains high image quality while embedding secret data.</a:t>
            </a:r>
          </a:p>
          <a:p>
            <a:pPr marL="798828" lvl="1" indent="-399414" algn="just">
              <a:lnSpc>
                <a:spcPts val="6659"/>
              </a:lnSpc>
              <a:buFont typeface="Arial"/>
              <a:buChar char="•"/>
            </a:pPr>
            <a:r>
              <a:rPr lang="en-US" sz="3699">
                <a:solidFill>
                  <a:srgbClr val="000000"/>
                </a:solidFill>
                <a:latin typeface="Canva Sans"/>
                <a:ea typeface="Canva Sans"/>
                <a:cs typeface="Canva Sans"/>
                <a:sym typeface="Canva Sans"/>
              </a:rPr>
              <a:t>Provides higher security and accuracy compared to methods like Least Significant Bit (LSB).</a:t>
            </a:r>
          </a:p>
          <a:p>
            <a:pPr marL="798828" lvl="1" indent="-399414" algn="just">
              <a:lnSpc>
                <a:spcPts val="6659"/>
              </a:lnSpc>
              <a:buFont typeface="Arial"/>
              <a:buChar char="•"/>
            </a:pPr>
            <a:r>
              <a:rPr lang="en-US" sz="3699">
                <a:solidFill>
                  <a:srgbClr val="000000"/>
                </a:solidFill>
                <a:latin typeface="Canva Sans"/>
                <a:ea typeface="Canva Sans"/>
                <a:cs typeface="Canva Sans"/>
                <a:sym typeface="Canva Sans"/>
              </a:rPr>
              <a:t>More robust against image distortions and attacks.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879747" y="1244003"/>
            <a:ext cx="15379553" cy="2295525"/>
          </a:xfrm>
          <a:prstGeom prst="rect">
            <a:avLst/>
          </a:prstGeom>
        </p:spPr>
        <p:txBody>
          <a:bodyPr lIns="0" tIns="0" rIns="0" bIns="0" rtlCol="0" anchor="t">
            <a:spAutoFit/>
          </a:bodyPr>
          <a:lstStyle/>
          <a:p>
            <a:pPr algn="l">
              <a:lnSpc>
                <a:spcPts val="6299"/>
              </a:lnSpc>
            </a:pPr>
            <a:r>
              <a:rPr lang="en-US" sz="3499" dirty="0">
                <a:solidFill>
                  <a:srgbClr val="000000"/>
                </a:solidFill>
                <a:latin typeface="Canva Sans"/>
                <a:ea typeface="Canva Sans"/>
                <a:cs typeface="Canva Sans"/>
                <a:sym typeface="Canva Sans"/>
              </a:rPr>
              <a:t>The system architecture describes how the image </a:t>
            </a:r>
            <a:r>
              <a:rPr lang="en-US" sz="3499" dirty="0" err="1">
                <a:solidFill>
                  <a:srgbClr val="000000"/>
                </a:solidFill>
                <a:latin typeface="Canva Sans"/>
                <a:ea typeface="Canva Sans"/>
                <a:cs typeface="Canva Sans"/>
                <a:sym typeface="Canva Sans"/>
              </a:rPr>
              <a:t>steganography</a:t>
            </a:r>
            <a:r>
              <a:rPr lang="en-US" sz="3499" dirty="0">
                <a:solidFill>
                  <a:srgbClr val="000000"/>
                </a:solidFill>
                <a:latin typeface="Canva Sans"/>
                <a:ea typeface="Canva Sans"/>
                <a:cs typeface="Canva Sans"/>
                <a:sym typeface="Canva Sans"/>
              </a:rPr>
              <a:t> model works step by step using a </a:t>
            </a:r>
            <a:r>
              <a:rPr lang="en-US" sz="3499" dirty="0" err="1">
                <a:solidFill>
                  <a:srgbClr val="000000"/>
                </a:solidFill>
                <a:latin typeface="Canva Sans"/>
                <a:ea typeface="Canva Sans"/>
                <a:cs typeface="Canva Sans"/>
                <a:sym typeface="Canva Sans"/>
              </a:rPr>
              <a:t>Convolutional</a:t>
            </a:r>
            <a:r>
              <a:rPr lang="en-US" sz="3499" dirty="0">
                <a:solidFill>
                  <a:srgbClr val="000000"/>
                </a:solidFill>
                <a:latin typeface="Canva Sans"/>
                <a:ea typeface="Canva Sans"/>
                <a:cs typeface="Canva Sans"/>
                <a:sym typeface="Canva Sans"/>
              </a:rPr>
              <a:t> Neural Network (CNN) based encoder–decoder network.</a:t>
            </a:r>
          </a:p>
        </p:txBody>
      </p:sp>
      <p:sp>
        <p:nvSpPr>
          <p:cNvPr id="4" name="TextBox 4"/>
          <p:cNvSpPr txBox="1"/>
          <p:nvPr/>
        </p:nvSpPr>
        <p:spPr>
          <a:xfrm>
            <a:off x="-3611643" y="141605"/>
            <a:ext cx="15638645"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System Architecture:</a:t>
            </a:r>
          </a:p>
        </p:txBody>
      </p:sp>
      <p:sp>
        <p:nvSpPr>
          <p:cNvPr id="5" name="TextBox 5"/>
          <p:cNvSpPr txBox="1"/>
          <p:nvPr/>
        </p:nvSpPr>
        <p:spPr>
          <a:xfrm>
            <a:off x="1028700" y="3852171"/>
            <a:ext cx="2689638" cy="662939"/>
          </a:xfrm>
          <a:prstGeom prst="rect">
            <a:avLst/>
          </a:prstGeom>
        </p:spPr>
        <p:txBody>
          <a:bodyPr lIns="0" tIns="0" rIns="0" bIns="0" rtlCol="0" anchor="t">
            <a:spAutoFit/>
          </a:bodyPr>
          <a:lstStyle/>
          <a:p>
            <a:pPr algn="ctr">
              <a:lnSpc>
                <a:spcPts val="5460"/>
              </a:lnSpc>
            </a:pPr>
            <a:r>
              <a:rPr lang="en-US" sz="3900" b="1">
                <a:solidFill>
                  <a:srgbClr val="000000"/>
                </a:solidFill>
                <a:latin typeface="Canva Sans Bold"/>
                <a:ea typeface="Canva Sans Bold"/>
                <a:cs typeface="Canva Sans Bold"/>
                <a:sym typeface="Canva Sans Bold"/>
              </a:rPr>
              <a:t>Steps:</a:t>
            </a:r>
          </a:p>
        </p:txBody>
      </p:sp>
      <p:sp>
        <p:nvSpPr>
          <p:cNvPr id="6" name="TextBox 6"/>
          <p:cNvSpPr txBox="1"/>
          <p:nvPr/>
        </p:nvSpPr>
        <p:spPr>
          <a:xfrm>
            <a:off x="2373519" y="4804410"/>
            <a:ext cx="14475642" cy="4453890"/>
          </a:xfrm>
          <a:prstGeom prst="rect">
            <a:avLst/>
          </a:prstGeom>
        </p:spPr>
        <p:txBody>
          <a:bodyPr lIns="0" tIns="0" rIns="0" bIns="0" rtlCol="0" anchor="t">
            <a:spAutoFit/>
          </a:bodyPr>
          <a:lstStyle/>
          <a:p>
            <a:pPr marL="712470" lvl="1" indent="-356235" algn="l">
              <a:lnSpc>
                <a:spcPts val="5940"/>
              </a:lnSpc>
              <a:buFont typeface="Arial"/>
              <a:buChar char="•"/>
            </a:pPr>
            <a:r>
              <a:rPr lang="en-US" sz="3300">
                <a:solidFill>
                  <a:srgbClr val="000000"/>
                </a:solidFill>
                <a:latin typeface="Canva Sans"/>
                <a:ea typeface="Canva Sans"/>
                <a:cs typeface="Canva Sans"/>
                <a:sym typeface="Canva Sans"/>
              </a:rPr>
              <a:t>Input Image </a:t>
            </a:r>
          </a:p>
          <a:p>
            <a:pPr marL="712470" lvl="1" indent="-356235" algn="l">
              <a:lnSpc>
                <a:spcPts val="5940"/>
              </a:lnSpc>
              <a:buFont typeface="Arial"/>
              <a:buChar char="•"/>
            </a:pPr>
            <a:r>
              <a:rPr lang="en-US" sz="3300">
                <a:solidFill>
                  <a:srgbClr val="000000"/>
                </a:solidFill>
                <a:latin typeface="Canva Sans"/>
                <a:ea typeface="Canva Sans"/>
                <a:cs typeface="Canva Sans"/>
                <a:sym typeface="Canva Sans"/>
              </a:rPr>
              <a:t>Preprocessing</a:t>
            </a:r>
          </a:p>
          <a:p>
            <a:pPr marL="712470" lvl="1" indent="-356235" algn="l">
              <a:lnSpc>
                <a:spcPts val="5940"/>
              </a:lnSpc>
              <a:buFont typeface="Arial"/>
              <a:buChar char="•"/>
            </a:pPr>
            <a:r>
              <a:rPr lang="en-US" sz="3300">
                <a:solidFill>
                  <a:srgbClr val="000000"/>
                </a:solidFill>
                <a:latin typeface="Canva Sans"/>
                <a:ea typeface="Canva Sans"/>
                <a:cs typeface="Canva Sans"/>
                <a:sym typeface="Canva Sans"/>
              </a:rPr>
              <a:t>Encoder (CNN)</a:t>
            </a:r>
          </a:p>
          <a:p>
            <a:pPr marL="712470" lvl="1" indent="-356235" algn="l">
              <a:lnSpc>
                <a:spcPts val="5940"/>
              </a:lnSpc>
              <a:buFont typeface="Arial"/>
              <a:buChar char="•"/>
            </a:pPr>
            <a:r>
              <a:rPr lang="en-US" sz="3300">
                <a:solidFill>
                  <a:srgbClr val="000000"/>
                </a:solidFill>
                <a:latin typeface="Canva Sans"/>
                <a:ea typeface="Canva Sans"/>
                <a:cs typeface="Canva Sans"/>
                <a:sym typeface="Canva Sans"/>
              </a:rPr>
              <a:t>Stego Image Generation</a:t>
            </a:r>
          </a:p>
          <a:p>
            <a:pPr marL="712470" lvl="1" indent="-356235" algn="l">
              <a:lnSpc>
                <a:spcPts val="5940"/>
              </a:lnSpc>
              <a:buFont typeface="Arial"/>
              <a:buChar char="•"/>
            </a:pPr>
            <a:r>
              <a:rPr lang="en-US" sz="3300">
                <a:solidFill>
                  <a:srgbClr val="000000"/>
                </a:solidFill>
                <a:latin typeface="Canva Sans"/>
                <a:ea typeface="Canva Sans"/>
                <a:cs typeface="Canva Sans"/>
                <a:sym typeface="Canva Sans"/>
              </a:rPr>
              <a:t>Decoder (CNN) </a:t>
            </a:r>
          </a:p>
          <a:p>
            <a:pPr marL="712470" lvl="1" indent="-356235" algn="l">
              <a:lnSpc>
                <a:spcPts val="5940"/>
              </a:lnSpc>
              <a:buFont typeface="Arial"/>
              <a:buChar char="•"/>
            </a:pPr>
            <a:r>
              <a:rPr lang="en-US" sz="3300">
                <a:solidFill>
                  <a:srgbClr val="000000"/>
                </a:solidFill>
                <a:latin typeface="Canva Sans"/>
                <a:ea typeface="Canva Sans"/>
                <a:cs typeface="Canva Sans"/>
                <a:sym typeface="Canva Sans"/>
              </a:rPr>
              <a:t>Output Message </a:t>
            </a:r>
          </a:p>
        </p:txBody>
      </p:sp>
      <p:sp>
        <p:nvSpPr>
          <p:cNvPr id="7" name="AutoShape 7"/>
          <p:cNvSpPr/>
          <p:nvPr/>
        </p:nvSpPr>
        <p:spPr>
          <a:xfrm flipV="1">
            <a:off x="804977" y="1028700"/>
            <a:ext cx="6741264" cy="0"/>
          </a:xfrm>
          <a:prstGeom prst="line">
            <a:avLst/>
          </a:prstGeom>
          <a:ln w="38100" cap="flat">
            <a:solidFill>
              <a:srgbClr val="000000"/>
            </a:solidFill>
            <a:prstDash val="solid"/>
            <a:headEnd type="none" w="sm" len="sm"/>
            <a:tailEnd type="none" w="sm" len="sm"/>
          </a:ln>
        </p:spPr>
      </p:sp>
      <p:sp>
        <p:nvSpPr>
          <p:cNvPr id="8" name="AutoShape 8"/>
          <p:cNvSpPr/>
          <p:nvPr/>
        </p:nvSpPr>
        <p:spPr>
          <a:xfrm>
            <a:off x="1673539" y="4515111"/>
            <a:ext cx="1348849"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236059" y="1817997"/>
            <a:ext cx="15839290" cy="3613150"/>
          </a:xfrm>
          <a:prstGeom prst="rect">
            <a:avLst/>
          </a:prstGeom>
        </p:spPr>
        <p:txBody>
          <a:bodyPr lIns="0" tIns="0" rIns="0" bIns="0" rtlCol="0" anchor="t">
            <a:spAutoFit/>
          </a:bodyPr>
          <a:lstStyle/>
          <a:p>
            <a:pPr marL="734059" lvl="1" indent="-367030" algn="l">
              <a:lnSpc>
                <a:spcPts val="5779"/>
              </a:lnSpc>
              <a:buFont typeface="Arial"/>
              <a:buChar char="•"/>
            </a:pPr>
            <a:r>
              <a:rPr lang="en-US" sz="3399">
                <a:solidFill>
                  <a:srgbClr val="000000"/>
                </a:solidFill>
                <a:latin typeface="Canva Sans"/>
                <a:ea typeface="Canva Sans"/>
                <a:cs typeface="Canva Sans"/>
                <a:sym typeface="Canva Sans"/>
              </a:rPr>
              <a:t>1.DATA CONSUMER</a:t>
            </a:r>
          </a:p>
          <a:p>
            <a:pPr marL="734059" lvl="1" indent="-367030" algn="l">
              <a:lnSpc>
                <a:spcPts val="5779"/>
              </a:lnSpc>
              <a:buFont typeface="Arial"/>
              <a:buChar char="•"/>
            </a:pPr>
            <a:r>
              <a:rPr lang="en-US" sz="3399">
                <a:solidFill>
                  <a:srgbClr val="000000"/>
                </a:solidFill>
                <a:latin typeface="Canva Sans"/>
                <a:ea typeface="Canva Sans"/>
                <a:cs typeface="Canva Sans"/>
                <a:sym typeface="Canva Sans"/>
              </a:rPr>
              <a:t>2.DATA PRODUCER</a:t>
            </a:r>
          </a:p>
          <a:p>
            <a:pPr marL="734059" lvl="1" indent="-367030" algn="l">
              <a:lnSpc>
                <a:spcPts val="5779"/>
              </a:lnSpc>
              <a:buFont typeface="Arial"/>
              <a:buChar char="•"/>
            </a:pPr>
            <a:r>
              <a:rPr lang="en-US" sz="3399">
                <a:solidFill>
                  <a:srgbClr val="000000"/>
                </a:solidFill>
                <a:latin typeface="Canva Sans"/>
                <a:ea typeface="Canva Sans"/>
                <a:cs typeface="Canva Sans"/>
                <a:sym typeface="Canva Sans"/>
              </a:rPr>
              <a:t>3.TRUSTED AUTHORITY</a:t>
            </a:r>
          </a:p>
          <a:p>
            <a:pPr marL="734059" lvl="1" indent="-367030" algn="l">
              <a:lnSpc>
                <a:spcPts val="5779"/>
              </a:lnSpc>
              <a:buFont typeface="Arial"/>
              <a:buChar char="•"/>
            </a:pPr>
            <a:r>
              <a:rPr lang="en-US" sz="3399">
                <a:solidFill>
                  <a:srgbClr val="000000"/>
                </a:solidFill>
                <a:latin typeface="Canva Sans"/>
                <a:ea typeface="Canva Sans"/>
                <a:cs typeface="Canva Sans"/>
                <a:sym typeface="Canva Sans"/>
              </a:rPr>
              <a:t>4.UAVCLOUDPROVIDER</a:t>
            </a:r>
          </a:p>
          <a:p>
            <a:pPr marL="734059" lvl="1" indent="-367030" algn="l">
              <a:lnSpc>
                <a:spcPts val="5779"/>
              </a:lnSpc>
              <a:buFont typeface="Arial"/>
              <a:buChar char="•"/>
            </a:pPr>
            <a:r>
              <a:rPr lang="en-US" sz="3399">
                <a:solidFill>
                  <a:srgbClr val="000000"/>
                </a:solidFill>
                <a:latin typeface="Canva Sans"/>
                <a:ea typeface="Canva Sans"/>
                <a:cs typeface="Canva Sans"/>
                <a:sym typeface="Canva Sans"/>
              </a:rPr>
              <a:t>5.BLOCKCHAIN</a:t>
            </a:r>
          </a:p>
        </p:txBody>
      </p:sp>
      <p:sp>
        <p:nvSpPr>
          <p:cNvPr id="4" name="TextBox 4"/>
          <p:cNvSpPr txBox="1"/>
          <p:nvPr/>
        </p:nvSpPr>
        <p:spPr>
          <a:xfrm>
            <a:off x="-1391899" y="544513"/>
            <a:ext cx="7255915" cy="863600"/>
          </a:xfrm>
          <a:prstGeom prst="rect">
            <a:avLst/>
          </a:prstGeom>
        </p:spPr>
        <p:txBody>
          <a:bodyPr lIns="0" tIns="0" rIns="0" bIns="0" rtlCol="0" anchor="t">
            <a:spAutoFit/>
          </a:bodyPr>
          <a:lstStyle/>
          <a:p>
            <a:pPr algn="ctr">
              <a:lnSpc>
                <a:spcPts val="7000"/>
              </a:lnSpc>
            </a:pPr>
            <a:r>
              <a:rPr lang="en-US" sz="5000" b="1">
                <a:solidFill>
                  <a:srgbClr val="000000"/>
                </a:solidFill>
                <a:latin typeface="Canva Sans Bold"/>
                <a:ea typeface="Canva Sans Bold"/>
                <a:cs typeface="Canva Sans Bold"/>
                <a:sym typeface="Canva Sans Bold"/>
              </a:rPr>
              <a:t>MODULES:</a:t>
            </a:r>
          </a:p>
        </p:txBody>
      </p:sp>
      <p:sp>
        <p:nvSpPr>
          <p:cNvPr id="5" name="AutoShape 5"/>
          <p:cNvSpPr/>
          <p:nvPr/>
        </p:nvSpPr>
        <p:spPr>
          <a:xfrm flipV="1">
            <a:off x="602636" y="1408112"/>
            <a:ext cx="3300111" cy="0"/>
          </a:xfrm>
          <a:prstGeom prst="line">
            <a:avLst/>
          </a:prstGeom>
          <a:ln w="38100" cap="flat">
            <a:solidFill>
              <a:srgbClr val="000000"/>
            </a:solidFill>
            <a:prstDash val="solid"/>
            <a:headEnd type="none" w="sm" len="sm"/>
            <a:tailEnd type="none" w="sm" len="sm"/>
          </a:ln>
        </p:spPr>
      </p:sp>
      <p:sp>
        <p:nvSpPr>
          <p:cNvPr id="6" name="TextBox 6"/>
          <p:cNvSpPr txBox="1"/>
          <p:nvPr/>
        </p:nvSpPr>
        <p:spPr>
          <a:xfrm>
            <a:off x="336726" y="5698156"/>
            <a:ext cx="6080017" cy="1038228"/>
          </a:xfrm>
          <a:prstGeom prst="rect">
            <a:avLst/>
          </a:prstGeom>
        </p:spPr>
        <p:txBody>
          <a:bodyPr lIns="0" tIns="0" rIns="0" bIns="0" rtlCol="0" anchor="t">
            <a:spAutoFit/>
          </a:bodyPr>
          <a:lstStyle/>
          <a:p>
            <a:pPr algn="ctr">
              <a:lnSpc>
                <a:spcPts val="8999"/>
              </a:lnSpc>
              <a:spcBef>
                <a:spcPct val="0"/>
              </a:spcBef>
            </a:pPr>
            <a:r>
              <a:rPr lang="en-US" sz="4999" b="1">
                <a:solidFill>
                  <a:srgbClr val="000000"/>
                </a:solidFill>
                <a:latin typeface="Canva Sans Bold"/>
                <a:ea typeface="Canva Sans Bold"/>
                <a:cs typeface="Canva Sans Bold"/>
                <a:sym typeface="Canva Sans Bold"/>
              </a:rPr>
              <a:t>UML DIAGRAMS:</a:t>
            </a:r>
          </a:p>
        </p:txBody>
      </p:sp>
      <p:sp>
        <p:nvSpPr>
          <p:cNvPr id="7" name="AutoShape 7"/>
          <p:cNvSpPr/>
          <p:nvPr/>
        </p:nvSpPr>
        <p:spPr>
          <a:xfrm>
            <a:off x="602636" y="6684616"/>
            <a:ext cx="5383987" cy="51768"/>
          </a:xfrm>
          <a:prstGeom prst="line">
            <a:avLst/>
          </a:prstGeom>
          <a:ln w="38100" cap="flat">
            <a:solidFill>
              <a:srgbClr val="000000"/>
            </a:solidFill>
            <a:prstDash val="solid"/>
            <a:headEnd type="none" w="sm" len="sm"/>
            <a:tailEnd type="none" w="sm" len="sm"/>
          </a:ln>
        </p:spPr>
      </p:sp>
      <p:sp>
        <p:nvSpPr>
          <p:cNvPr id="8" name="TextBox 8"/>
          <p:cNvSpPr txBox="1"/>
          <p:nvPr/>
        </p:nvSpPr>
        <p:spPr>
          <a:xfrm>
            <a:off x="1382889" y="7309385"/>
            <a:ext cx="14929556" cy="1663066"/>
          </a:xfrm>
          <a:prstGeom prst="rect">
            <a:avLst/>
          </a:prstGeom>
        </p:spPr>
        <p:txBody>
          <a:bodyPr lIns="0" tIns="0" rIns="0" bIns="0" rtlCol="0" anchor="t">
            <a:spAutoFit/>
          </a:bodyPr>
          <a:lstStyle/>
          <a:p>
            <a:pPr algn="l">
              <a:lnSpc>
                <a:spcPts val="6839"/>
              </a:lnSpc>
              <a:spcBef>
                <a:spcPct val="0"/>
              </a:spcBef>
            </a:pPr>
            <a:r>
              <a:rPr lang="en-US" sz="3799" dirty="0">
                <a:solidFill>
                  <a:srgbClr val="000000"/>
                </a:solidFill>
                <a:latin typeface="Canva Sans"/>
                <a:ea typeface="Canva Sans"/>
                <a:cs typeface="Canva Sans"/>
                <a:sym typeface="Canva Sans"/>
              </a:rPr>
              <a:t>Unified Modeling Language (UML) diagrams are used to visually represent the design and structure of the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496222" y="990928"/>
            <a:ext cx="5397924" cy="18722"/>
          </a:xfrm>
          <a:prstGeom prst="line">
            <a:avLst/>
          </a:prstGeom>
          <a:ln w="38100" cap="flat">
            <a:solidFill>
              <a:srgbClr val="000000"/>
            </a:solidFill>
            <a:prstDash val="solid"/>
            <a:headEnd type="none" w="sm" len="sm"/>
            <a:tailEnd type="none" w="sm" len="sm"/>
          </a:ln>
        </p:spPr>
      </p:sp>
      <p:sp>
        <p:nvSpPr>
          <p:cNvPr id="4" name="Freeform 4"/>
          <p:cNvSpPr/>
          <p:nvPr/>
        </p:nvSpPr>
        <p:spPr>
          <a:xfrm>
            <a:off x="3066101" y="2564931"/>
            <a:ext cx="12155799" cy="2188044"/>
          </a:xfrm>
          <a:custGeom>
            <a:avLst/>
            <a:gdLst/>
            <a:ahLst/>
            <a:cxnLst/>
            <a:rect l="l" t="t" r="r" b="b"/>
            <a:pathLst>
              <a:path w="12155799" h="2188044">
                <a:moveTo>
                  <a:pt x="0" y="0"/>
                </a:moveTo>
                <a:lnTo>
                  <a:pt x="12155798" y="0"/>
                </a:lnTo>
                <a:lnTo>
                  <a:pt x="12155798" y="2188044"/>
                </a:lnTo>
                <a:lnTo>
                  <a:pt x="0" y="2188044"/>
                </a:lnTo>
                <a:lnTo>
                  <a:pt x="0" y="0"/>
                </a:lnTo>
                <a:close/>
              </a:path>
            </a:pathLst>
          </a:custGeom>
          <a:blipFill>
            <a:blip r:embed="rId2"/>
            <a:stretch>
              <a:fillRect/>
            </a:stretch>
          </a:blipFill>
        </p:spPr>
      </p:sp>
      <p:sp>
        <p:nvSpPr>
          <p:cNvPr id="5" name="TextBox 5"/>
          <p:cNvSpPr txBox="1"/>
          <p:nvPr/>
        </p:nvSpPr>
        <p:spPr>
          <a:xfrm>
            <a:off x="75078" y="4905375"/>
            <a:ext cx="5481918" cy="885072"/>
          </a:xfrm>
          <a:prstGeom prst="rect">
            <a:avLst/>
          </a:prstGeom>
        </p:spPr>
        <p:txBody>
          <a:bodyPr lIns="0" tIns="0" rIns="0" bIns="0" rtlCol="0" anchor="t">
            <a:spAutoFit/>
          </a:bodyPr>
          <a:lstStyle/>
          <a:p>
            <a:pPr algn="ctr">
              <a:lnSpc>
                <a:spcPts val="7667"/>
              </a:lnSpc>
              <a:spcBef>
                <a:spcPct val="0"/>
              </a:spcBef>
            </a:pPr>
            <a:r>
              <a:rPr lang="en-US" sz="4259" b="1">
                <a:solidFill>
                  <a:srgbClr val="000000"/>
                </a:solidFill>
                <a:latin typeface="Canva Sans Bold"/>
                <a:ea typeface="Canva Sans Bold"/>
                <a:cs typeface="Canva Sans Bold"/>
                <a:sym typeface="Canva Sans Bold"/>
              </a:rPr>
              <a:t>CLASS DIAGRAM:</a:t>
            </a:r>
          </a:p>
        </p:txBody>
      </p:sp>
      <p:sp>
        <p:nvSpPr>
          <p:cNvPr id="6" name="AutoShape 6"/>
          <p:cNvSpPr/>
          <p:nvPr/>
        </p:nvSpPr>
        <p:spPr>
          <a:xfrm>
            <a:off x="496156" y="5771397"/>
            <a:ext cx="4664752" cy="19050"/>
          </a:xfrm>
          <a:prstGeom prst="line">
            <a:avLst/>
          </a:prstGeom>
          <a:ln w="38100" cap="flat">
            <a:solidFill>
              <a:srgbClr val="000000"/>
            </a:solidFill>
            <a:prstDash val="solid"/>
            <a:headEnd type="none" w="sm" len="sm"/>
            <a:tailEnd type="none" w="sm" len="sm"/>
          </a:ln>
        </p:spPr>
      </p:sp>
      <p:sp>
        <p:nvSpPr>
          <p:cNvPr id="7" name="Freeform 7"/>
          <p:cNvSpPr/>
          <p:nvPr/>
        </p:nvSpPr>
        <p:spPr>
          <a:xfrm>
            <a:off x="4735148" y="7182600"/>
            <a:ext cx="8998261" cy="3104400"/>
          </a:xfrm>
          <a:custGeom>
            <a:avLst/>
            <a:gdLst/>
            <a:ahLst/>
            <a:cxnLst/>
            <a:rect l="l" t="t" r="r" b="b"/>
            <a:pathLst>
              <a:path w="8998261" h="3104400">
                <a:moveTo>
                  <a:pt x="0" y="0"/>
                </a:moveTo>
                <a:lnTo>
                  <a:pt x="8998261" y="0"/>
                </a:lnTo>
                <a:lnTo>
                  <a:pt x="8998261" y="3104400"/>
                </a:lnTo>
                <a:lnTo>
                  <a:pt x="0" y="3104400"/>
                </a:lnTo>
                <a:lnTo>
                  <a:pt x="0" y="0"/>
                </a:lnTo>
                <a:close/>
              </a:path>
            </a:pathLst>
          </a:custGeom>
          <a:blipFill>
            <a:blip r:embed="rId3"/>
            <a:stretch>
              <a:fillRect/>
            </a:stretch>
          </a:blipFill>
        </p:spPr>
      </p:sp>
      <p:sp>
        <p:nvSpPr>
          <p:cNvPr id="8" name="TextBox 8"/>
          <p:cNvSpPr txBox="1"/>
          <p:nvPr/>
        </p:nvSpPr>
        <p:spPr>
          <a:xfrm>
            <a:off x="-197556" y="89861"/>
            <a:ext cx="6940748" cy="901067"/>
          </a:xfrm>
          <a:prstGeom prst="rect">
            <a:avLst/>
          </a:prstGeom>
        </p:spPr>
        <p:txBody>
          <a:bodyPr lIns="0" tIns="0" rIns="0" bIns="0" rtlCol="0" anchor="t">
            <a:spAutoFit/>
          </a:bodyPr>
          <a:lstStyle/>
          <a:p>
            <a:pPr algn="ctr">
              <a:lnSpc>
                <a:spcPts val="7739"/>
              </a:lnSpc>
              <a:spcBef>
                <a:spcPct val="0"/>
              </a:spcBef>
            </a:pPr>
            <a:r>
              <a:rPr lang="en-US" sz="4299" b="1">
                <a:solidFill>
                  <a:srgbClr val="000000"/>
                </a:solidFill>
                <a:latin typeface="Canva Sans Bold"/>
                <a:ea typeface="Canva Sans Bold"/>
                <a:cs typeface="Canva Sans Bold"/>
                <a:sym typeface="Canva Sans Bold"/>
              </a:rPr>
              <a:t>USE CASE DIAGRAM:</a:t>
            </a:r>
          </a:p>
        </p:txBody>
      </p:sp>
      <p:sp>
        <p:nvSpPr>
          <p:cNvPr id="9" name="TextBox 9"/>
          <p:cNvSpPr txBox="1"/>
          <p:nvPr/>
        </p:nvSpPr>
        <p:spPr>
          <a:xfrm>
            <a:off x="2583694" y="1334954"/>
            <a:ext cx="13466630" cy="817246"/>
          </a:xfrm>
          <a:prstGeom prst="rect">
            <a:avLst/>
          </a:prstGeom>
        </p:spPr>
        <p:txBody>
          <a:bodyPr lIns="0" tIns="0" rIns="0" bIns="0" rtlCol="0" anchor="t">
            <a:spAutoFit/>
          </a:bodyPr>
          <a:lstStyle/>
          <a:p>
            <a:pPr algn="ctr">
              <a:lnSpc>
                <a:spcPts val="7019"/>
              </a:lnSpc>
              <a:spcBef>
                <a:spcPct val="0"/>
              </a:spcBef>
            </a:pPr>
            <a:r>
              <a:rPr lang="en-US" sz="3899">
                <a:solidFill>
                  <a:srgbClr val="000000"/>
                </a:solidFill>
                <a:latin typeface="Canva Sans"/>
                <a:ea typeface="Canva Sans"/>
                <a:cs typeface="Canva Sans"/>
                <a:sym typeface="Canva Sans"/>
              </a:rPr>
              <a:t>Shows the interaction between users and the system.</a:t>
            </a:r>
          </a:p>
        </p:txBody>
      </p:sp>
      <p:sp>
        <p:nvSpPr>
          <p:cNvPr id="10" name="TextBox 10"/>
          <p:cNvSpPr txBox="1"/>
          <p:nvPr/>
        </p:nvSpPr>
        <p:spPr>
          <a:xfrm>
            <a:off x="2129835" y="5973125"/>
            <a:ext cx="14374349" cy="817246"/>
          </a:xfrm>
          <a:prstGeom prst="rect">
            <a:avLst/>
          </a:prstGeom>
        </p:spPr>
        <p:txBody>
          <a:bodyPr lIns="0" tIns="0" rIns="0" bIns="0" rtlCol="0" anchor="t">
            <a:spAutoFit/>
          </a:bodyPr>
          <a:lstStyle/>
          <a:p>
            <a:pPr algn="ctr">
              <a:lnSpc>
                <a:spcPts val="7019"/>
              </a:lnSpc>
              <a:spcBef>
                <a:spcPct val="0"/>
              </a:spcBef>
            </a:pPr>
            <a:r>
              <a:rPr lang="en-US" sz="3899">
                <a:solidFill>
                  <a:srgbClr val="000000"/>
                </a:solidFill>
                <a:latin typeface="Canva Sans"/>
                <a:ea typeface="Canva Sans"/>
                <a:cs typeface="Canva Sans"/>
                <a:sym typeface="Canva Sans"/>
              </a:rPr>
              <a:t> Describes system classes, attributes, and relationships.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0" y="151130"/>
            <a:ext cx="7815637" cy="771525"/>
          </a:xfrm>
          <a:prstGeom prst="rect">
            <a:avLst/>
          </a:prstGeom>
        </p:spPr>
        <p:txBody>
          <a:bodyPr lIns="0" tIns="0" rIns="0" bIns="0" rtlCol="0" anchor="t">
            <a:spAutoFit/>
          </a:bodyPr>
          <a:lstStyle/>
          <a:p>
            <a:pPr algn="ctr">
              <a:lnSpc>
                <a:spcPts val="6300"/>
              </a:lnSpc>
            </a:pPr>
            <a:r>
              <a:rPr lang="en-US" sz="4500" b="1">
                <a:solidFill>
                  <a:srgbClr val="000000"/>
                </a:solidFill>
                <a:latin typeface="Canva Sans Bold"/>
                <a:ea typeface="Canva Sans Bold"/>
                <a:cs typeface="Canva Sans Bold"/>
                <a:sym typeface="Canva Sans Bold"/>
              </a:rPr>
              <a:t>SEQUENCE DIAGRAM:</a:t>
            </a:r>
          </a:p>
        </p:txBody>
      </p:sp>
      <p:sp>
        <p:nvSpPr>
          <p:cNvPr id="4" name="AutoShape 4"/>
          <p:cNvSpPr/>
          <p:nvPr/>
        </p:nvSpPr>
        <p:spPr>
          <a:xfrm flipV="1">
            <a:off x="819265" y="879299"/>
            <a:ext cx="6291102" cy="43356"/>
          </a:xfrm>
          <a:prstGeom prst="line">
            <a:avLst/>
          </a:prstGeom>
          <a:ln w="38100" cap="flat">
            <a:solidFill>
              <a:srgbClr val="000000"/>
            </a:solidFill>
            <a:prstDash val="solid"/>
            <a:headEnd type="none" w="sm" len="sm"/>
            <a:tailEnd type="none" w="sm" len="sm"/>
          </a:ln>
        </p:spPr>
      </p:sp>
      <p:sp>
        <p:nvSpPr>
          <p:cNvPr id="5" name="Freeform 5"/>
          <p:cNvSpPr/>
          <p:nvPr/>
        </p:nvSpPr>
        <p:spPr>
          <a:xfrm>
            <a:off x="11668984" y="236855"/>
            <a:ext cx="6315385" cy="4902317"/>
          </a:xfrm>
          <a:custGeom>
            <a:avLst/>
            <a:gdLst/>
            <a:ahLst/>
            <a:cxnLst/>
            <a:rect l="l" t="t" r="r" b="b"/>
            <a:pathLst>
              <a:path w="6315385" h="4902317">
                <a:moveTo>
                  <a:pt x="0" y="0"/>
                </a:moveTo>
                <a:lnTo>
                  <a:pt x="6315385" y="0"/>
                </a:lnTo>
                <a:lnTo>
                  <a:pt x="6315385" y="4902317"/>
                </a:lnTo>
                <a:lnTo>
                  <a:pt x="0" y="4902317"/>
                </a:lnTo>
                <a:lnTo>
                  <a:pt x="0" y="0"/>
                </a:lnTo>
                <a:close/>
              </a:path>
            </a:pathLst>
          </a:custGeom>
          <a:blipFill>
            <a:blip r:embed="rId2"/>
            <a:stretch>
              <a:fillRect/>
            </a:stretch>
          </a:blipFill>
        </p:spPr>
      </p:sp>
      <p:sp>
        <p:nvSpPr>
          <p:cNvPr id="6" name="TextBox 6"/>
          <p:cNvSpPr txBox="1"/>
          <p:nvPr/>
        </p:nvSpPr>
        <p:spPr>
          <a:xfrm>
            <a:off x="335379" y="4886325"/>
            <a:ext cx="6565554" cy="934319"/>
          </a:xfrm>
          <a:prstGeom prst="rect">
            <a:avLst/>
          </a:prstGeom>
        </p:spPr>
        <p:txBody>
          <a:bodyPr lIns="0" tIns="0" rIns="0" bIns="0" rtlCol="0" anchor="t">
            <a:spAutoFit/>
          </a:bodyPr>
          <a:lstStyle/>
          <a:p>
            <a:pPr algn="ctr">
              <a:lnSpc>
                <a:spcPts val="8079"/>
              </a:lnSpc>
              <a:spcBef>
                <a:spcPct val="0"/>
              </a:spcBef>
            </a:pPr>
            <a:r>
              <a:rPr lang="en-US" sz="4488" b="1">
                <a:solidFill>
                  <a:srgbClr val="000000"/>
                </a:solidFill>
                <a:latin typeface="Canva Sans Bold"/>
                <a:ea typeface="Canva Sans Bold"/>
                <a:cs typeface="Canva Sans Bold"/>
                <a:sym typeface="Canva Sans Bold"/>
              </a:rPr>
              <a:t>ACTIVITY DIAGRAM: </a:t>
            </a:r>
          </a:p>
        </p:txBody>
      </p:sp>
      <p:sp>
        <p:nvSpPr>
          <p:cNvPr id="7" name="AutoShape 7"/>
          <p:cNvSpPr/>
          <p:nvPr/>
        </p:nvSpPr>
        <p:spPr>
          <a:xfrm>
            <a:off x="565265" y="5820644"/>
            <a:ext cx="5896289" cy="0"/>
          </a:xfrm>
          <a:prstGeom prst="line">
            <a:avLst/>
          </a:prstGeom>
          <a:ln w="38100" cap="flat">
            <a:solidFill>
              <a:srgbClr val="000000"/>
            </a:solidFill>
            <a:prstDash val="solid"/>
            <a:headEnd type="none" w="sm" len="sm"/>
            <a:tailEnd type="none" w="sm" len="sm"/>
          </a:ln>
        </p:spPr>
      </p:sp>
      <p:sp>
        <p:nvSpPr>
          <p:cNvPr id="8" name="Freeform 8"/>
          <p:cNvSpPr/>
          <p:nvPr/>
        </p:nvSpPr>
        <p:spPr>
          <a:xfrm>
            <a:off x="13492719" y="5335801"/>
            <a:ext cx="3129425" cy="4899296"/>
          </a:xfrm>
          <a:custGeom>
            <a:avLst/>
            <a:gdLst/>
            <a:ahLst/>
            <a:cxnLst/>
            <a:rect l="l" t="t" r="r" b="b"/>
            <a:pathLst>
              <a:path w="3129425" h="4899296">
                <a:moveTo>
                  <a:pt x="0" y="0"/>
                </a:moveTo>
                <a:lnTo>
                  <a:pt x="3129426" y="0"/>
                </a:lnTo>
                <a:lnTo>
                  <a:pt x="3129426" y="4899296"/>
                </a:lnTo>
                <a:lnTo>
                  <a:pt x="0" y="4899296"/>
                </a:lnTo>
                <a:lnTo>
                  <a:pt x="0" y="0"/>
                </a:lnTo>
                <a:close/>
              </a:path>
            </a:pathLst>
          </a:custGeom>
          <a:blipFill>
            <a:blip r:embed="rId3"/>
            <a:stretch>
              <a:fillRect/>
            </a:stretch>
          </a:blipFill>
        </p:spPr>
      </p:sp>
      <p:sp>
        <p:nvSpPr>
          <p:cNvPr id="9" name="TextBox 9"/>
          <p:cNvSpPr txBox="1"/>
          <p:nvPr/>
        </p:nvSpPr>
        <p:spPr>
          <a:xfrm>
            <a:off x="1028700" y="1533349"/>
            <a:ext cx="9435029" cy="1619251"/>
          </a:xfrm>
          <a:prstGeom prst="rect">
            <a:avLst/>
          </a:prstGeom>
        </p:spPr>
        <p:txBody>
          <a:bodyPr lIns="0" tIns="0" rIns="0" bIns="0" rtlCol="0" anchor="t">
            <a:spAutoFit/>
          </a:bodyPr>
          <a:lstStyle/>
          <a:p>
            <a:pPr algn="l">
              <a:lnSpc>
                <a:spcPts val="6629"/>
              </a:lnSpc>
              <a:spcBef>
                <a:spcPct val="0"/>
              </a:spcBef>
            </a:pPr>
            <a:r>
              <a:rPr lang="en-US" sz="3899">
                <a:solidFill>
                  <a:srgbClr val="000000"/>
                </a:solidFill>
                <a:latin typeface="Canva Sans"/>
                <a:ea typeface="Canva Sans"/>
                <a:cs typeface="Canva Sans"/>
                <a:sym typeface="Canva Sans"/>
              </a:rPr>
              <a:t>Shows the sequence of interactions between system components.</a:t>
            </a:r>
          </a:p>
        </p:txBody>
      </p:sp>
      <p:sp>
        <p:nvSpPr>
          <p:cNvPr id="10" name="TextBox 10"/>
          <p:cNvSpPr txBox="1"/>
          <p:nvPr/>
        </p:nvSpPr>
        <p:spPr>
          <a:xfrm>
            <a:off x="879227" y="7004398"/>
            <a:ext cx="12043410" cy="781051"/>
          </a:xfrm>
          <a:prstGeom prst="rect">
            <a:avLst/>
          </a:prstGeom>
        </p:spPr>
        <p:txBody>
          <a:bodyPr lIns="0" tIns="0" rIns="0" bIns="0" rtlCol="0" anchor="t">
            <a:spAutoFit/>
          </a:bodyPr>
          <a:lstStyle/>
          <a:p>
            <a:pPr algn="ctr">
              <a:lnSpc>
                <a:spcPts val="6629"/>
              </a:lnSpc>
              <a:spcBef>
                <a:spcPct val="0"/>
              </a:spcBef>
            </a:pPr>
            <a:r>
              <a:rPr lang="en-US" sz="3899">
                <a:solidFill>
                  <a:srgbClr val="000000"/>
                </a:solidFill>
                <a:latin typeface="Canva Sans"/>
                <a:ea typeface="Canva Sans"/>
                <a:cs typeface="Canva Sans"/>
                <a:sym typeface="Canva Sans"/>
              </a:rPr>
              <a:t> Represents the workflow of the system processes.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00464" y="357154"/>
            <a:ext cx="10858576" cy="9787295"/>
          </a:xfrm>
          <a:prstGeom prst="rect">
            <a:avLst/>
          </a:prstGeom>
          <a:noFill/>
        </p:spPr>
        <p:txBody>
          <a:bodyPr wrap="square" rtlCol="0">
            <a:spAutoFit/>
          </a:bodyPr>
          <a:lstStyle/>
          <a:p>
            <a:pPr lvl="0" fontAlgn="base">
              <a:spcBef>
                <a:spcPct val="0"/>
              </a:spcBef>
              <a:spcAft>
                <a:spcPct val="0"/>
              </a:spcAft>
            </a:pPr>
            <a:r>
              <a:rPr lang="en-US" sz="3000" b="1" dirty="0" smtClean="0">
                <a:latin typeface="Times New Roman" pitchFamily="18" charset="0"/>
                <a:ea typeface="Calibri" pitchFamily="34" charset="0"/>
                <a:cs typeface="Times New Roman" pitchFamily="18" charset="0"/>
              </a:rPr>
              <a:t>views.py</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from </a:t>
            </a:r>
            <a:r>
              <a:rPr lang="en-US" sz="3000" dirty="0" err="1" smtClean="0">
                <a:latin typeface="Times New Roman" pitchFamily="18" charset="0"/>
                <a:ea typeface="Calibri" pitchFamily="34" charset="0"/>
                <a:cs typeface="Times New Roman" pitchFamily="18" charset="0"/>
              </a:rPr>
              <a:t>django.shortcuts</a:t>
            </a:r>
            <a:r>
              <a:rPr lang="en-US" sz="3000" dirty="0" smtClean="0">
                <a:latin typeface="Times New Roman" pitchFamily="18" charset="0"/>
                <a:ea typeface="Calibri" pitchFamily="34" charset="0"/>
                <a:cs typeface="Times New Roman" pitchFamily="18" charset="0"/>
              </a:rPr>
              <a:t> import render</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from </a:t>
            </a:r>
            <a:r>
              <a:rPr lang="en-US" sz="3000" dirty="0" err="1" smtClean="0">
                <a:latin typeface="Times New Roman" pitchFamily="18" charset="0"/>
                <a:ea typeface="Calibri" pitchFamily="34" charset="0"/>
                <a:cs typeface="Times New Roman" pitchFamily="18" charset="0"/>
              </a:rPr>
              <a:t>django.core.files.storage</a:t>
            </a:r>
            <a:r>
              <a:rPr lang="en-US" sz="3000" dirty="0" smtClean="0">
                <a:latin typeface="Times New Roman" pitchFamily="18" charset="0"/>
                <a:ea typeface="Calibri" pitchFamily="34" charset="0"/>
                <a:cs typeface="Times New Roman" pitchFamily="18" charset="0"/>
              </a:rPr>
              <a:t> import </a:t>
            </a:r>
            <a:r>
              <a:rPr lang="en-US" sz="3000" dirty="0" err="1" smtClean="0">
                <a:latin typeface="Times New Roman" pitchFamily="18" charset="0"/>
                <a:ea typeface="Calibri" pitchFamily="34" charset="0"/>
                <a:cs typeface="Times New Roman" pitchFamily="18" charset="0"/>
              </a:rPr>
              <a:t>FileSystemStorage</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import </a:t>
            </a:r>
            <a:r>
              <a:rPr lang="en-US" sz="3000" dirty="0" err="1" smtClean="0">
                <a:latin typeface="Times New Roman" pitchFamily="18" charset="0"/>
                <a:ea typeface="Calibri" pitchFamily="34" charset="0"/>
                <a:cs typeface="Times New Roman" pitchFamily="18" charset="0"/>
              </a:rPr>
              <a:t>numpy</a:t>
            </a:r>
            <a:r>
              <a:rPr lang="en-US" sz="3000" dirty="0" smtClean="0">
                <a:latin typeface="Times New Roman" pitchFamily="18" charset="0"/>
                <a:ea typeface="Calibri" pitchFamily="34" charset="0"/>
                <a:cs typeface="Times New Roman" pitchFamily="18" charset="0"/>
              </a:rPr>
              <a:t> as </a:t>
            </a:r>
            <a:r>
              <a:rPr lang="en-US" sz="3000" dirty="0" err="1" smtClean="0">
                <a:latin typeface="Times New Roman" pitchFamily="18" charset="0"/>
                <a:ea typeface="Calibri" pitchFamily="34" charset="0"/>
                <a:cs typeface="Times New Roman" pitchFamily="18" charset="0"/>
              </a:rPr>
              <a:t>np</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import </a:t>
            </a:r>
            <a:r>
              <a:rPr lang="en-US" sz="3000" dirty="0" err="1" smtClean="0">
                <a:latin typeface="Times New Roman" pitchFamily="18" charset="0"/>
                <a:ea typeface="Calibri" pitchFamily="34" charset="0"/>
                <a:cs typeface="Times New Roman" pitchFamily="18" charset="0"/>
              </a:rPr>
              <a:t>tensorflow</a:t>
            </a:r>
            <a:r>
              <a:rPr lang="en-US" sz="3000" dirty="0" smtClean="0">
                <a:latin typeface="Times New Roman" pitchFamily="18" charset="0"/>
                <a:ea typeface="Calibri" pitchFamily="34" charset="0"/>
                <a:cs typeface="Times New Roman" pitchFamily="18" charset="0"/>
              </a:rPr>
              <a:t> as </a:t>
            </a:r>
            <a:r>
              <a:rPr lang="en-US" sz="3000" dirty="0" err="1" smtClean="0">
                <a:latin typeface="Times New Roman" pitchFamily="18" charset="0"/>
                <a:ea typeface="Calibri" pitchFamily="34" charset="0"/>
                <a:cs typeface="Times New Roman" pitchFamily="18" charset="0"/>
              </a:rPr>
              <a:t>tf</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from </a:t>
            </a:r>
            <a:r>
              <a:rPr lang="en-US" sz="3000" dirty="0" err="1" smtClean="0">
                <a:latin typeface="Times New Roman" pitchFamily="18" charset="0"/>
                <a:ea typeface="Calibri" pitchFamily="34" charset="0"/>
                <a:cs typeface="Times New Roman" pitchFamily="18" charset="0"/>
              </a:rPr>
              <a:t>tensorflow.keras.preprocessing</a:t>
            </a:r>
            <a:r>
              <a:rPr lang="en-US" sz="3000" dirty="0" smtClean="0">
                <a:latin typeface="Times New Roman" pitchFamily="18" charset="0"/>
                <a:ea typeface="Calibri" pitchFamily="34" charset="0"/>
                <a:cs typeface="Times New Roman" pitchFamily="18" charset="0"/>
              </a:rPr>
              <a:t> import image</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import </a:t>
            </a:r>
            <a:r>
              <a:rPr lang="en-US" sz="3000" dirty="0" err="1" smtClean="0">
                <a:latin typeface="Times New Roman" pitchFamily="18" charset="0"/>
                <a:ea typeface="Calibri" pitchFamily="34" charset="0"/>
                <a:cs typeface="Times New Roman" pitchFamily="18" charset="0"/>
              </a:rPr>
              <a:t>matplotlib.pyplot</a:t>
            </a:r>
            <a:r>
              <a:rPr lang="en-US" sz="3000" dirty="0" smtClean="0">
                <a:latin typeface="Times New Roman" pitchFamily="18" charset="0"/>
                <a:ea typeface="Calibri" pitchFamily="34" charset="0"/>
                <a:cs typeface="Times New Roman" pitchFamily="18" charset="0"/>
              </a:rPr>
              <a:t> as </a:t>
            </a:r>
            <a:r>
              <a:rPr lang="en-US" sz="3000" dirty="0" err="1" smtClean="0">
                <a:latin typeface="Times New Roman" pitchFamily="18" charset="0"/>
                <a:ea typeface="Calibri" pitchFamily="34" charset="0"/>
                <a:cs typeface="Times New Roman" pitchFamily="18" charset="0"/>
              </a:rPr>
              <a:t>plt</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import </a:t>
            </a:r>
            <a:r>
              <a:rPr lang="en-US" sz="3000" dirty="0" err="1" smtClean="0">
                <a:latin typeface="Times New Roman" pitchFamily="18" charset="0"/>
                <a:ea typeface="Calibri" pitchFamily="34" charset="0"/>
                <a:cs typeface="Times New Roman" pitchFamily="18" charset="0"/>
              </a:rPr>
              <a:t>os</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import cv2</a:t>
            </a:r>
            <a:endParaRPr lang="en-US" sz="3000" dirty="0" smtClean="0">
              <a:latin typeface="Times New Roman" pitchFamily="18" charset="0"/>
              <a:cs typeface="Times New Roman" pitchFamily="18" charset="0"/>
            </a:endParaRPr>
          </a:p>
          <a:p>
            <a:pPr lvl="0" eaLnBrk="0" fontAlgn="base" hangingPunct="0">
              <a:spcBef>
                <a:spcPct val="0"/>
              </a:spcBef>
              <a:spcAft>
                <a:spcPct val="0"/>
              </a:spcAft>
            </a:pPr>
            <a:r>
              <a:rPr lang="en-US" sz="3000" dirty="0" smtClean="0">
                <a:latin typeface="Times New Roman" pitchFamily="18" charset="0"/>
                <a:ea typeface="Calibri" pitchFamily="34" charset="0"/>
                <a:cs typeface="Times New Roman" pitchFamily="18" charset="0"/>
              </a:rPr>
              <a:t>from </a:t>
            </a:r>
            <a:r>
              <a:rPr lang="en-US" sz="3000" dirty="0" err="1" smtClean="0">
                <a:latin typeface="Times New Roman" pitchFamily="18" charset="0"/>
                <a:ea typeface="Calibri" pitchFamily="34" charset="0"/>
                <a:cs typeface="Times New Roman" pitchFamily="18" charset="0"/>
              </a:rPr>
              <a:t>tensorflow.keras</a:t>
            </a:r>
            <a:r>
              <a:rPr lang="en-US" sz="3000" dirty="0" smtClean="0">
                <a:latin typeface="Times New Roman" pitchFamily="18" charset="0"/>
                <a:ea typeface="Calibri" pitchFamily="34" charset="0"/>
                <a:cs typeface="Times New Roman" pitchFamily="18" charset="0"/>
              </a:rPr>
              <a:t> import layers, Model</a:t>
            </a:r>
          </a:p>
          <a:p>
            <a:r>
              <a:rPr lang="en-US" sz="3000" dirty="0" smtClean="0">
                <a:latin typeface="Times New Roman" pitchFamily="18" charset="0"/>
                <a:cs typeface="Times New Roman" pitchFamily="18" charset="0"/>
              </a:rPr>
              <a:t># Create your views here.</a:t>
            </a:r>
          </a:p>
          <a:p>
            <a:r>
              <a:rPr lang="en-US" sz="3000" dirty="0" smtClean="0">
                <a:latin typeface="Times New Roman" pitchFamily="18" charset="0"/>
                <a:cs typeface="Times New Roman" pitchFamily="18" charset="0"/>
              </a:rPr>
              <a:t>def index(request):</a:t>
            </a:r>
          </a:p>
          <a:p>
            <a:r>
              <a:rPr lang="en-US" sz="3000" dirty="0" smtClean="0">
                <a:latin typeface="Times New Roman" pitchFamily="18" charset="0"/>
                <a:cs typeface="Times New Roman" pitchFamily="18" charset="0"/>
              </a:rPr>
              <a:t>return render(</a:t>
            </a:r>
            <a:r>
              <a:rPr lang="en-US" sz="3000" dirty="0" err="1" smtClean="0">
                <a:latin typeface="Times New Roman" pitchFamily="18" charset="0"/>
                <a:cs typeface="Times New Roman" pitchFamily="18" charset="0"/>
              </a:rPr>
              <a:t>request,'index.html</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def </a:t>
            </a:r>
            <a:r>
              <a:rPr lang="en-US" sz="3000" dirty="0" err="1" smtClean="0">
                <a:latin typeface="Times New Roman" pitchFamily="18" charset="0"/>
                <a:cs typeface="Times New Roman" pitchFamily="18" charset="0"/>
              </a:rPr>
              <a:t>LogAction</a:t>
            </a:r>
            <a:r>
              <a:rPr lang="en-US" sz="3000" dirty="0" smtClean="0">
                <a:latin typeface="Times New Roman" pitchFamily="18" charset="0"/>
                <a:cs typeface="Times New Roman" pitchFamily="18" charset="0"/>
              </a:rPr>
              <a:t>(request</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uname</a:t>
            </a:r>
            <a:r>
              <a:rPr lang="en-US" sz="3000" dirty="0" smtClean="0">
                <a:latin typeface="Times New Roman" pitchFamily="18" charset="0"/>
                <a:cs typeface="Times New Roman" pitchFamily="18" charset="0"/>
              </a:rPr>
              <a:t>=request.POST['username']</a:t>
            </a:r>
          </a:p>
          <a:p>
            <a:r>
              <a:rPr lang="en-US" sz="3000" dirty="0" err="1" smtClean="0">
                <a:latin typeface="Times New Roman" pitchFamily="18" charset="0"/>
                <a:cs typeface="Times New Roman" pitchFamily="18" charset="0"/>
              </a:rPr>
              <a:t>pwd</a:t>
            </a:r>
            <a:r>
              <a:rPr lang="en-US" sz="3000" dirty="0" smtClean="0">
                <a:latin typeface="Times New Roman" pitchFamily="18" charset="0"/>
                <a:cs typeface="Times New Roman" pitchFamily="18" charset="0"/>
              </a:rPr>
              <a:t>=request.POST['password']</a:t>
            </a:r>
          </a:p>
          <a:p>
            <a:r>
              <a:rPr lang="en-US" sz="3000" dirty="0" smtClean="0">
                <a:latin typeface="Times New Roman" pitchFamily="18" charset="0"/>
                <a:cs typeface="Times New Roman" pitchFamily="18" charset="0"/>
              </a:rPr>
              <a:t>If </a:t>
            </a:r>
            <a:r>
              <a:rPr lang="en-US" sz="3000" dirty="0" err="1" smtClean="0">
                <a:latin typeface="Times New Roman" pitchFamily="18" charset="0"/>
                <a:cs typeface="Times New Roman" pitchFamily="18" charset="0"/>
              </a:rPr>
              <a:t>uname</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 'Admin' and </a:t>
            </a:r>
            <a:r>
              <a:rPr lang="en-US" sz="3000" dirty="0" err="1" smtClean="0">
                <a:latin typeface="Times New Roman" pitchFamily="18" charset="0"/>
                <a:cs typeface="Times New Roman" pitchFamily="18" charset="0"/>
              </a:rPr>
              <a:t>pwd</a:t>
            </a:r>
            <a:r>
              <a:rPr lang="en-US" sz="3000" dirty="0" smtClean="0">
                <a:latin typeface="Times New Roman" pitchFamily="18" charset="0"/>
                <a:cs typeface="Times New Roman" pitchFamily="18" charset="0"/>
              </a:rPr>
              <a:t> == 'Admin':</a:t>
            </a:r>
          </a:p>
          <a:p>
            <a:r>
              <a:rPr lang="en-US" sz="3000" dirty="0" smtClean="0">
                <a:latin typeface="Times New Roman" pitchFamily="18" charset="0"/>
                <a:cs typeface="Times New Roman" pitchFamily="18" charset="0"/>
              </a:rPr>
              <a:t>return render(</a:t>
            </a:r>
            <a:r>
              <a:rPr lang="en-US" sz="3000" dirty="0" err="1" smtClean="0">
                <a:latin typeface="Times New Roman" pitchFamily="18" charset="0"/>
                <a:cs typeface="Times New Roman" pitchFamily="18" charset="0"/>
              </a:rPr>
              <a:t>request,'AdminHome.html</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else:</a:t>
            </a:r>
          </a:p>
          <a:p>
            <a:r>
              <a:rPr lang="en-US" sz="3000" dirty="0" smtClean="0">
                <a:latin typeface="Times New Roman" pitchFamily="18" charset="0"/>
                <a:cs typeface="Times New Roman" pitchFamily="18" charset="0"/>
              </a:rPr>
              <a:t>context={'</a:t>
            </a:r>
            <a:r>
              <a:rPr lang="en-US" sz="3000" dirty="0" err="1" smtClean="0">
                <a:latin typeface="Times New Roman" pitchFamily="18" charset="0"/>
                <a:cs typeface="Times New Roman" pitchFamily="18" charset="0"/>
              </a:rPr>
              <a:t>msg':'Login</a:t>
            </a:r>
            <a:r>
              <a:rPr lang="en-US" sz="3000" dirty="0" smtClean="0">
                <a:latin typeface="Times New Roman" pitchFamily="18" charset="0"/>
                <a:cs typeface="Times New Roman" pitchFamily="18" charset="0"/>
              </a:rPr>
              <a:t> Failed...!!'}</a:t>
            </a:r>
          </a:p>
          <a:p>
            <a:r>
              <a:rPr lang="en-IN" sz="3000" dirty="0" smtClean="0">
                <a:latin typeface="Times New Roman" pitchFamily="18" charset="0"/>
                <a:cs typeface="Times New Roman" pitchFamily="18" charset="0"/>
              </a:rPr>
              <a:t>return render(</a:t>
            </a:r>
            <a:r>
              <a:rPr lang="en-IN" sz="3000" dirty="0" err="1" smtClean="0">
                <a:latin typeface="Times New Roman" pitchFamily="18" charset="0"/>
                <a:cs typeface="Times New Roman" pitchFamily="18" charset="0"/>
              </a:rPr>
              <a:t>request,'AdminApp</a:t>
            </a:r>
            <a:r>
              <a:rPr lang="en-IN" sz="3000" dirty="0" smtClean="0">
                <a:latin typeface="Times New Roman" pitchFamily="18" charset="0"/>
                <a:cs typeface="Times New Roman" pitchFamily="18" charset="0"/>
              </a:rPr>
              <a:t>/</a:t>
            </a:r>
            <a:r>
              <a:rPr lang="en-IN" sz="3000" dirty="0" err="1" smtClean="0">
                <a:latin typeface="Times New Roman" pitchFamily="18" charset="0"/>
                <a:cs typeface="Times New Roman" pitchFamily="18" charset="0"/>
              </a:rPr>
              <a:t>index.html',context</a:t>
            </a:r>
            <a:r>
              <a:rPr lang="en-IN" sz="3000" dirty="0" smtClean="0">
                <a:latin typeface="Times New Roman" pitchFamily="18" charset="0"/>
                <a:cs typeface="Times New Roman" pitchFamily="18" charset="0"/>
              </a:rPr>
              <a:t>) </a:t>
            </a:r>
            <a:endParaRPr lang="en-US" sz="3000" dirty="0" smtClean="0">
              <a:latin typeface="Times New Roman" pitchFamily="18" charset="0"/>
              <a:cs typeface="Times New Roman" pitchFamily="18" charset="0"/>
            </a:endParaRPr>
          </a:p>
        </p:txBody>
      </p:sp>
      <p:sp>
        <p:nvSpPr>
          <p:cNvPr id="4" name="TextBox 3"/>
          <p:cNvSpPr txBox="1"/>
          <p:nvPr/>
        </p:nvSpPr>
        <p:spPr>
          <a:xfrm>
            <a:off x="500002" y="58131"/>
            <a:ext cx="3714776" cy="584775"/>
          </a:xfrm>
          <a:prstGeom prst="rect">
            <a:avLst/>
          </a:prstGeom>
          <a:noFill/>
        </p:spPr>
        <p:txBody>
          <a:bodyPr wrap="square" rtlCol="0">
            <a:spAutoFit/>
          </a:bodyPr>
          <a:lstStyle/>
          <a:p>
            <a:r>
              <a:rPr lang="en-US" sz="3200" b="1" dirty="0" smtClean="0">
                <a:latin typeface="Canva Sans" charset="0"/>
              </a:rPr>
              <a:t>SAMPLE CODE:</a:t>
            </a:r>
            <a:endParaRPr lang="en-US" sz="3200" b="1" dirty="0">
              <a:latin typeface="Canva Sans"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02" y="214278"/>
            <a:ext cx="17073682" cy="9787295"/>
          </a:xfrm>
          <a:prstGeom prst="rect">
            <a:avLst/>
          </a:prstGeom>
          <a:noFill/>
        </p:spPr>
        <p:txBody>
          <a:bodyPr wrap="square" numCol="1" rtlCol="0">
            <a:spAutoFit/>
          </a:bodyPr>
          <a:lstStyle/>
          <a:p>
            <a:r>
              <a:rPr lang="en-US" sz="3000" dirty="0" smtClean="0">
                <a:latin typeface="Times New Roman" pitchFamily="18" charset="0"/>
                <a:cs typeface="Times New Roman" pitchFamily="18" charset="0"/>
              </a:rPr>
              <a:t>def home(request):</a:t>
            </a:r>
          </a:p>
          <a:p>
            <a:r>
              <a:rPr lang="en-US" sz="3000" dirty="0" smtClean="0">
                <a:latin typeface="Times New Roman" pitchFamily="18" charset="0"/>
                <a:cs typeface="Times New Roman" pitchFamily="18" charset="0"/>
              </a:rPr>
              <a:t>return render(</a:t>
            </a:r>
            <a:r>
              <a:rPr lang="en-US" sz="3000" dirty="0" err="1" smtClean="0">
                <a:latin typeface="Times New Roman" pitchFamily="18" charset="0"/>
                <a:cs typeface="Times New Roman" pitchFamily="18" charset="0"/>
              </a:rPr>
              <a:t>request,'AdminHome.html</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def encode(request):</a:t>
            </a:r>
          </a:p>
          <a:p>
            <a:r>
              <a:rPr lang="en-US" sz="3000" dirty="0" smtClean="0">
                <a:latin typeface="Times New Roman" pitchFamily="18" charset="0"/>
                <a:cs typeface="Times New Roman" pitchFamily="18" charset="0"/>
              </a:rPr>
              <a:t>return render(</a:t>
            </a:r>
            <a:r>
              <a:rPr lang="en-US" sz="3000" dirty="0" err="1" smtClean="0">
                <a:latin typeface="Times New Roman" pitchFamily="18" charset="0"/>
                <a:cs typeface="Times New Roman" pitchFamily="18" charset="0"/>
              </a:rPr>
              <a:t>request,'Encode.html</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 Define the character set and mappings for one-hot encoding</a:t>
            </a:r>
          </a:p>
          <a:p>
            <a:r>
              <a:rPr lang="en-US" sz="3000" dirty="0" smtClean="0">
                <a:latin typeface="Times New Roman" pitchFamily="18" charset="0"/>
                <a:cs typeface="Times New Roman" pitchFamily="18" charset="0"/>
              </a:rPr>
              <a:t>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set</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'ABCDEFGHIJKLMNOPQRSTUVWXYZabcdefghijklmnopqrstuvwxyz0123456789</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to</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index </a:t>
            </a:r>
            <a:r>
              <a:rPr lang="en-US" sz="3000" dirty="0" smtClean="0">
                <a:latin typeface="Times New Roman" pitchFamily="18" charset="0"/>
                <a:cs typeface="Times New Roman" pitchFamily="18" charset="0"/>
              </a:rPr>
              <a:t>= {char: </a:t>
            </a:r>
            <a:r>
              <a:rPr lang="en-US" sz="3000" dirty="0" err="1" smtClean="0">
                <a:latin typeface="Times New Roman" pitchFamily="18" charset="0"/>
                <a:cs typeface="Times New Roman" pitchFamily="18" charset="0"/>
              </a:rPr>
              <a:t>idx</a:t>
            </a:r>
            <a:r>
              <a:rPr lang="en-US" sz="3000" dirty="0" smtClean="0">
                <a:latin typeface="Times New Roman" pitchFamily="18" charset="0"/>
                <a:cs typeface="Times New Roman" pitchFamily="18" charset="0"/>
              </a:rPr>
              <a:t> for </a:t>
            </a:r>
            <a:r>
              <a:rPr lang="en-US" sz="3000" dirty="0" err="1" smtClean="0">
                <a:latin typeface="Times New Roman" pitchFamily="18" charset="0"/>
                <a:cs typeface="Times New Roman" pitchFamily="18" charset="0"/>
              </a:rPr>
              <a:t>idx</a:t>
            </a:r>
            <a:r>
              <a:rPr lang="en-US" sz="3000" dirty="0" smtClean="0">
                <a:latin typeface="Times New Roman" pitchFamily="18" charset="0"/>
                <a:cs typeface="Times New Roman" pitchFamily="18" charset="0"/>
              </a:rPr>
              <a:t>, char in </a:t>
            </a:r>
            <a:r>
              <a:rPr lang="en-US" sz="3000" dirty="0" smtClean="0">
                <a:latin typeface="Times New Roman" pitchFamily="18" charset="0"/>
                <a:cs typeface="Times New Roman" pitchFamily="18" charset="0"/>
              </a:rPr>
              <a:t>enumerate(char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set</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index</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to</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char </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idx</a:t>
            </a:r>
            <a:r>
              <a:rPr lang="en-US" sz="3000" dirty="0" smtClean="0">
                <a:latin typeface="Times New Roman" pitchFamily="18" charset="0"/>
                <a:cs typeface="Times New Roman" pitchFamily="18" charset="0"/>
              </a:rPr>
              <a:t>: char for </a:t>
            </a:r>
            <a:r>
              <a:rPr lang="en-US" sz="3000" dirty="0" err="1" smtClean="0">
                <a:latin typeface="Times New Roman" pitchFamily="18" charset="0"/>
                <a:cs typeface="Times New Roman" pitchFamily="18" charset="0"/>
              </a:rPr>
              <a:t>idx</a:t>
            </a:r>
            <a:r>
              <a:rPr lang="en-US" sz="3000" dirty="0" smtClean="0">
                <a:latin typeface="Times New Roman" pitchFamily="18" charset="0"/>
                <a:cs typeface="Times New Roman" pitchFamily="18" charset="0"/>
              </a:rPr>
              <a:t>, char in </a:t>
            </a:r>
            <a:r>
              <a:rPr lang="en-US" sz="3000" dirty="0" smtClean="0">
                <a:latin typeface="Times New Roman" pitchFamily="18" charset="0"/>
                <a:cs typeface="Times New Roman" pitchFamily="18" charset="0"/>
              </a:rPr>
              <a:t>enumerate(char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set)}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Function to convert text to one-hot encoding</a:t>
            </a:r>
          </a:p>
          <a:p>
            <a:r>
              <a:rPr lang="en-US" sz="3000" dirty="0" err="1" smtClean="0">
                <a:latin typeface="Times New Roman" pitchFamily="18" charset="0"/>
                <a:cs typeface="Times New Roman" pitchFamily="18" charset="0"/>
              </a:rPr>
              <a:t>deftext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to</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one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hot(text</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to</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index</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length</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one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hot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encoded </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np.zeros</a:t>
            </a:r>
            <a:r>
              <a:rPr lang="en-US" sz="3000" dirty="0" smtClean="0">
                <a:latin typeface="Times New Roman" pitchFamily="18" charset="0"/>
                <a:cs typeface="Times New Roman" pitchFamily="18" charset="0"/>
              </a:rPr>
              <a:t>((</a:t>
            </a:r>
            <a:r>
              <a:rPr lang="en-US" sz="3000" dirty="0" smtClean="0">
                <a:latin typeface="Times New Roman" pitchFamily="18" charset="0"/>
                <a:cs typeface="Times New Roman" pitchFamily="18" charset="0"/>
              </a:rPr>
              <a: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len</a:t>
            </a:r>
            <a:r>
              <a:rPr lang="en-US" sz="3000" dirty="0" smtClean="0">
                <a:latin typeface="Times New Roman" pitchFamily="18" charset="0"/>
                <a:cs typeface="Times New Roman" pitchFamily="18" charset="0"/>
              </a:rPr>
              <a:t>(char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to</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index</a:t>
            </a:r>
            <a:r>
              <a:rPr lang="en-US" sz="3000" dirty="0" smtClean="0">
                <a:latin typeface="Times New Roman" pitchFamily="18" charset="0"/>
                <a:cs typeface="Times New Roman" pitchFamily="18" charset="0"/>
              </a:rPr>
              <a:t>)))  # Shape: (</a:t>
            </a:r>
            <a:r>
              <a:rPr lang="en-US" sz="3000" dirty="0" smtClean="0">
                <a:latin typeface="Times New Roman" pitchFamily="18" charset="0"/>
                <a:cs typeface="Times New Roman" pitchFamily="18" charset="0"/>
              </a:rPr>
              <a: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vocab</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size</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fori</a:t>
            </a:r>
            <a:r>
              <a:rPr lang="en-US" sz="3000" dirty="0" smtClean="0">
                <a:latin typeface="Times New Roman" pitchFamily="18" charset="0"/>
                <a:cs typeface="Times New Roman" pitchFamily="18" charset="0"/>
              </a:rPr>
              <a:t>, char in enumerate(text):</a:t>
            </a:r>
          </a:p>
          <a:p>
            <a:r>
              <a:rPr lang="en-US" sz="3000" dirty="0" err="1" smtClean="0">
                <a:latin typeface="Times New Roman" pitchFamily="18" charset="0"/>
                <a:cs typeface="Times New Roman" pitchFamily="18" charset="0"/>
              </a:rPr>
              <a:t>ifi</a:t>
            </a:r>
            <a:r>
              <a:rPr lang="en-US" sz="3000" dirty="0" smtClean="0">
                <a:latin typeface="Times New Roman" pitchFamily="18" charset="0"/>
                <a:cs typeface="Times New Roman" pitchFamily="18" charset="0"/>
              </a:rPr>
              <a:t>&lt;text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length</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index = </a:t>
            </a:r>
            <a:r>
              <a:rPr lang="en-US" sz="3000" dirty="0" smtClean="0">
                <a:latin typeface="Times New Roman" pitchFamily="18" charset="0"/>
                <a:cs typeface="Times New Roman" pitchFamily="18" charset="0"/>
              </a:rPr>
              <a:t>char</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to</a:t>
            </a:r>
            <a:r>
              <a:rPr lang="en-IN" sz="3000" dirty="0" smtClean="0">
                <a:latin typeface="Times New Roman" pitchFamily="18" charset="0"/>
                <a:cs typeface="Times New Roman" pitchFamily="18" charset="0"/>
              </a:rPr>
              <a:t>_</a:t>
            </a:r>
            <a:r>
              <a:rPr lang="en-US" sz="3000" dirty="0" err="1" smtClean="0">
                <a:latin typeface="Times New Roman" pitchFamily="18" charset="0"/>
                <a:cs typeface="Times New Roman" pitchFamily="18" charset="0"/>
              </a:rPr>
              <a:t>index.get</a:t>
            </a:r>
            <a:r>
              <a:rPr lang="en-US" sz="3000" dirty="0" smtClean="0">
                <a:latin typeface="Times New Roman" pitchFamily="18" charset="0"/>
                <a:cs typeface="Times New Roman" pitchFamily="18" charset="0"/>
              </a:rPr>
              <a:t>(char</a:t>
            </a:r>
            <a:r>
              <a:rPr lang="en-US" sz="3000" dirty="0" smtClean="0">
                <a:latin typeface="Times New Roman" pitchFamily="18" charset="0"/>
                <a:cs typeface="Times New Roman" pitchFamily="18" charset="0"/>
              </a:rPr>
              <a:t>, -1)  # Get index of the character</a:t>
            </a:r>
          </a:p>
          <a:p>
            <a:r>
              <a:rPr lang="en-US" sz="3000" dirty="0" smtClean="0">
                <a:latin typeface="Times New Roman" pitchFamily="18" charset="0"/>
                <a:cs typeface="Times New Roman" pitchFamily="18" charset="0"/>
              </a:rPr>
              <a:t>if index != -1:</a:t>
            </a:r>
          </a:p>
          <a:p>
            <a:r>
              <a:rPr lang="en-US" sz="3000" dirty="0" smtClean="0">
                <a:latin typeface="Times New Roman" pitchFamily="18" charset="0"/>
                <a:cs typeface="Times New Roman" pitchFamily="18" charset="0"/>
              </a:rPr>
              <a:t>one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hot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encoded[</a:t>
            </a:r>
            <a:r>
              <a:rPr lang="en-US" sz="3000" dirty="0" err="1" smtClean="0">
                <a:latin typeface="Times New Roman" pitchFamily="18" charset="0"/>
                <a:cs typeface="Times New Roman" pitchFamily="18" charset="0"/>
              </a:rPr>
              <a:t>i</a:t>
            </a:r>
            <a:r>
              <a:rPr lang="en-US" sz="3000" dirty="0" smtClean="0">
                <a:latin typeface="Times New Roman" pitchFamily="18" charset="0"/>
                <a:cs typeface="Times New Roman" pitchFamily="18" charset="0"/>
              </a:rPr>
              <a:t>, index] = 1  # Set the corresponding index to 1</a:t>
            </a:r>
          </a:p>
          <a:p>
            <a:r>
              <a:rPr lang="en-US" sz="3000" dirty="0" err="1" smtClean="0">
                <a:latin typeface="Times New Roman" pitchFamily="18" charset="0"/>
                <a:cs typeface="Times New Roman" pitchFamily="18" charset="0"/>
              </a:rPr>
              <a:t>returnone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hot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encoded</a:t>
            </a:r>
          </a:p>
          <a:p>
            <a:r>
              <a:rPr lang="en-US" sz="3000" dirty="0" smtClean="0">
                <a:latin typeface="Times New Roman" pitchFamily="18" charset="0"/>
                <a:cs typeface="Times New Roman" pitchFamily="18" charset="0"/>
              </a:rPr>
              <a:t># Encoder Network: Embeds the secret text into the image</a:t>
            </a:r>
          </a:p>
          <a:p>
            <a:r>
              <a:rPr lang="en-US" sz="3000" dirty="0" err="1" smtClean="0">
                <a:latin typeface="Times New Roman" pitchFamily="18" charset="0"/>
                <a:cs typeface="Times New Roman" pitchFamily="18" charset="0"/>
              </a:rPr>
              <a:t>defbuild</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encoder(input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image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shape</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vocab</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size</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image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input </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layers.Input</a:t>
            </a:r>
            <a:r>
              <a:rPr lang="en-US" sz="3000" dirty="0" smtClean="0">
                <a:latin typeface="Times New Roman" pitchFamily="18" charset="0"/>
                <a:cs typeface="Times New Roman" pitchFamily="18" charset="0"/>
              </a:rPr>
              <a:t>(shape=input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image</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shape</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input </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layers.Input</a:t>
            </a:r>
            <a:r>
              <a:rPr lang="en-US" sz="3000" dirty="0" smtClean="0">
                <a:latin typeface="Times New Roman" pitchFamily="18" charset="0"/>
                <a:cs typeface="Times New Roman" pitchFamily="18" charset="0"/>
              </a:rPr>
              <a:t>(shape=(</a:t>
            </a:r>
            <a:r>
              <a:rPr lang="en-US" sz="3000" dirty="0" smtClean="0">
                <a:latin typeface="Times New Roman" pitchFamily="18" charset="0"/>
                <a:cs typeface="Times New Roman" pitchFamily="18" charset="0"/>
              </a:rPr>
              <a:t>text</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vocab</a:t>
            </a:r>
            <a:r>
              <a:rPr lang="en-IN" sz="3000" dirty="0" smtClean="0">
                <a:latin typeface="Times New Roman" pitchFamily="18" charset="0"/>
                <a:cs typeface="Times New Roman" pitchFamily="18" charset="0"/>
              </a:rPr>
              <a:t>_</a:t>
            </a:r>
            <a:r>
              <a:rPr lang="en-US" sz="3000" dirty="0" smtClean="0">
                <a:latin typeface="Times New Roman" pitchFamily="18" charset="0"/>
                <a:cs typeface="Times New Roman" pitchFamily="18" charset="0"/>
              </a:rPr>
              <a:t>size))</a:t>
            </a:r>
            <a:endParaRPr lang="en-US" sz="30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64" y="428592"/>
            <a:ext cx="16859368" cy="9571851"/>
          </a:xfrm>
          <a:prstGeom prst="rect">
            <a:avLst/>
          </a:prstGeom>
          <a:noFill/>
        </p:spPr>
        <p:txBody>
          <a:bodyPr wrap="square" rtlCol="0">
            <a:spAutoFit/>
          </a:bodyPr>
          <a:lstStyle/>
          <a:p>
            <a:r>
              <a:rPr lang="en-US" sz="2800" dirty="0" smtClean="0">
                <a:latin typeface="Times New Roman" pitchFamily="18" charset="0"/>
                <a:cs typeface="Times New Roman" pitchFamily="18" charset="0"/>
              </a:rPr>
              <a:t># CNN layers to process the image</a:t>
            </a:r>
          </a:p>
          <a:p>
            <a:r>
              <a:rPr lang="en-US" sz="2800" dirty="0" smtClean="0">
                <a:latin typeface="Times New Roman" pitchFamily="18" charset="0"/>
                <a:cs typeface="Times New Roman" pitchFamily="18" charset="0"/>
              </a:rPr>
              <a:t>    x = layers.Conv2D(32, (3, 3), activation='</a:t>
            </a:r>
            <a:r>
              <a:rPr lang="en-US" sz="2800" dirty="0" err="1" smtClean="0">
                <a:latin typeface="Times New Roman" pitchFamily="18" charset="0"/>
                <a:cs typeface="Times New Roman" pitchFamily="18" charset="0"/>
              </a:rPr>
              <a:t>relu</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image_input</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x = layers.MaxPooling2D()(x)</a:t>
            </a:r>
          </a:p>
          <a:p>
            <a:r>
              <a:rPr lang="en-US" sz="2800" dirty="0" smtClean="0">
                <a:latin typeface="Times New Roman" pitchFamily="18" charset="0"/>
                <a:cs typeface="Times New Roman" pitchFamily="18" charset="0"/>
              </a:rPr>
              <a:t>    x = layers.Conv2D(64, (3, 3), activation='</a:t>
            </a:r>
            <a:r>
              <a:rPr lang="en-US" sz="2800" dirty="0" err="1" smtClean="0">
                <a:latin typeface="Times New Roman" pitchFamily="18" charset="0"/>
                <a:cs typeface="Times New Roman" pitchFamily="18" charset="0"/>
              </a:rPr>
              <a:t>relu</a:t>
            </a:r>
            <a:r>
              <a:rPr lang="en-US" sz="2800" dirty="0" smtClean="0">
                <a:latin typeface="Times New Roman" pitchFamily="18" charset="0"/>
                <a:cs typeface="Times New Roman" pitchFamily="18" charset="0"/>
              </a:rPr>
              <a:t>')(x)</a:t>
            </a:r>
          </a:p>
          <a:p>
            <a:r>
              <a:rPr lang="en-US" sz="2800" dirty="0" smtClean="0">
                <a:latin typeface="Times New Roman" pitchFamily="18" charset="0"/>
                <a:cs typeface="Times New Roman" pitchFamily="18" charset="0"/>
              </a:rPr>
              <a:t>    x = layers.MaxPooling2D()(x)</a:t>
            </a:r>
          </a:p>
          <a:p>
            <a:r>
              <a:rPr lang="en-US" sz="2800" dirty="0" smtClean="0">
                <a:latin typeface="Times New Roman" pitchFamily="18" charset="0"/>
                <a:cs typeface="Times New Roman" pitchFamily="18" charset="0"/>
              </a:rPr>
              <a:t>    x = layers.Conv2D(128, (3, 3), activation='</a:t>
            </a:r>
            <a:r>
              <a:rPr lang="en-US" sz="2800" dirty="0" err="1" smtClean="0">
                <a:latin typeface="Times New Roman" pitchFamily="18" charset="0"/>
                <a:cs typeface="Times New Roman" pitchFamily="18" charset="0"/>
              </a:rPr>
              <a:t>relu</a:t>
            </a:r>
            <a:r>
              <a:rPr lang="en-US" sz="2800" dirty="0" smtClean="0">
                <a:latin typeface="Times New Roman" pitchFamily="18" charset="0"/>
                <a:cs typeface="Times New Roman" pitchFamily="18" charset="0"/>
              </a:rPr>
              <a:t>')(x)</a:t>
            </a:r>
          </a:p>
          <a:p>
            <a:r>
              <a:rPr lang="en-US" sz="2800" dirty="0" smtClean="0">
                <a:latin typeface="Times New Roman" pitchFamily="18" charset="0"/>
                <a:cs typeface="Times New Roman" pitchFamily="18" charset="0"/>
              </a:rPr>
              <a:t>    x = layers.MaxPooling2D()(x)</a:t>
            </a:r>
          </a:p>
          <a:p>
            <a:r>
              <a:rPr lang="en-IN" sz="2800" dirty="0" smtClean="0">
                <a:latin typeface="Times New Roman" pitchFamily="18" charset="0"/>
                <a:cs typeface="Times New Roman" pitchFamily="18" charset="0"/>
              </a:rPr>
              <a:t>    x = </a:t>
            </a:r>
            <a:r>
              <a:rPr lang="en-IN" sz="2800" dirty="0" err="1" smtClean="0">
                <a:latin typeface="Times New Roman" pitchFamily="18" charset="0"/>
                <a:cs typeface="Times New Roman" pitchFamily="18" charset="0"/>
              </a:rPr>
              <a:t>layers.Flatten</a:t>
            </a:r>
            <a:r>
              <a:rPr lang="en-IN" sz="2800" dirty="0" smtClean="0">
                <a:latin typeface="Times New Roman" pitchFamily="18" charset="0"/>
                <a:cs typeface="Times New Roman" pitchFamily="18" charset="0"/>
              </a:rPr>
              <a:t>()(x</a:t>
            </a:r>
            <a:r>
              <a:rPr lang="en-IN"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Concatenate the text input with the image features</a:t>
            </a:r>
          </a:p>
          <a:p>
            <a:r>
              <a:rPr lang="en-US" sz="2800" dirty="0" smtClean="0">
                <a:latin typeface="Times New Roman" pitchFamily="18" charset="0"/>
                <a:cs typeface="Times New Roman" pitchFamily="18" charset="0"/>
              </a:rPr>
              <a:t>    x = </a:t>
            </a:r>
            <a:r>
              <a:rPr lang="en-US" sz="2800" dirty="0" err="1" smtClean="0">
                <a:latin typeface="Times New Roman" pitchFamily="18" charset="0"/>
                <a:cs typeface="Times New Roman" pitchFamily="18" charset="0"/>
              </a:rPr>
              <a:t>layers.Concatenate</a:t>
            </a:r>
            <a:r>
              <a:rPr lang="en-US" sz="2800" dirty="0" smtClean="0">
                <a:latin typeface="Times New Roman" pitchFamily="18" charset="0"/>
                <a:cs typeface="Times New Roman" pitchFamily="18" charset="0"/>
              </a:rPr>
              <a:t>()([x, </a:t>
            </a:r>
            <a:r>
              <a:rPr lang="en-US" sz="2800" dirty="0" err="1" smtClean="0">
                <a:latin typeface="Times New Roman" pitchFamily="18" charset="0"/>
                <a:cs typeface="Times New Roman" pitchFamily="18" charset="0"/>
              </a:rPr>
              <a:t>layers.Flatten</a:t>
            </a:r>
            <a:r>
              <a:rPr lang="en-US" sz="2800" dirty="0" smtClean="0">
                <a:latin typeface="Times New Roman" pitchFamily="18" charset="0"/>
                <a:cs typeface="Times New Roman" pitchFamily="18" charset="0"/>
              </a:rPr>
              <a:t>()(</a:t>
            </a:r>
            <a:r>
              <a:rPr lang="en-US" sz="2800" dirty="0" smtClean="0">
                <a:latin typeface="Times New Roman" pitchFamily="18" charset="0"/>
                <a:cs typeface="Times New Roman" pitchFamily="18" charset="0"/>
              </a:rPr>
              <a:t>text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input)])</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Fully connected layer to produce the final encoded image</a:t>
            </a:r>
          </a:p>
          <a:p>
            <a:r>
              <a:rPr lang="en-US" sz="2800" dirty="0" smtClean="0">
                <a:latin typeface="Times New Roman" pitchFamily="18" charset="0"/>
                <a:cs typeface="Times New Roman" pitchFamily="18" charset="0"/>
              </a:rPr>
              <a:t>encoded</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 </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layers.Dense</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np.prod</a:t>
            </a:r>
            <a:r>
              <a:rPr lang="en-US" sz="2800" dirty="0" smtClean="0">
                <a:latin typeface="Times New Roman" pitchFamily="18" charset="0"/>
                <a:cs typeface="Times New Roman" pitchFamily="18" charset="0"/>
              </a:rPr>
              <a:t>(input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shape</a:t>
            </a:r>
            <a:r>
              <a:rPr lang="en-US" sz="2800" dirty="0" smtClean="0">
                <a:latin typeface="Times New Roman" pitchFamily="18" charset="0"/>
                <a:cs typeface="Times New Roman" pitchFamily="18" charset="0"/>
              </a:rPr>
              <a:t>), activation='sigmoid')(x)</a:t>
            </a:r>
          </a:p>
          <a:p>
            <a:r>
              <a:rPr lang="en-US" sz="2800" dirty="0" smtClean="0">
                <a:latin typeface="Times New Roman" pitchFamily="18" charset="0"/>
                <a:cs typeface="Times New Roman" pitchFamily="18" charset="0"/>
              </a:rPr>
              <a:t>encoded</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 </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layers.Reshape</a:t>
            </a:r>
            <a:r>
              <a:rPr lang="en-US" sz="2800" dirty="0" smtClean="0">
                <a:latin typeface="Times New Roman" pitchFamily="18" charset="0"/>
                <a:cs typeface="Times New Roman" pitchFamily="18" charset="0"/>
              </a:rPr>
              <a:t>(input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shape</a:t>
            </a:r>
            <a:r>
              <a:rPr lang="en-US" sz="2800" dirty="0" smtClean="0">
                <a:latin typeface="Times New Roman" pitchFamily="18" charset="0"/>
                <a:cs typeface="Times New Roman" pitchFamily="18" charset="0"/>
              </a:rPr>
              <a:t>)(</a:t>
            </a:r>
            <a:r>
              <a:rPr lang="en-US" sz="2800" dirty="0" smtClean="0">
                <a:latin typeface="Times New Roman" pitchFamily="18" charset="0"/>
                <a:cs typeface="Times New Roman" pitchFamily="18" charset="0"/>
              </a:rPr>
              <a:t>encoded</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encoder = Model(inputs=[</a:t>
            </a:r>
            <a:r>
              <a:rPr lang="en-US" sz="2800" dirty="0" smtClean="0">
                <a:latin typeface="Times New Roman" pitchFamily="18" charset="0"/>
                <a:cs typeface="Times New Roman" pitchFamily="18" charset="0"/>
              </a:rPr>
              <a:t>image</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input</a:t>
            </a: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text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input</a:t>
            </a: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outputs=encoded</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return </a:t>
            </a:r>
            <a:r>
              <a:rPr lang="en-US" sz="2800" dirty="0" smtClean="0">
                <a:latin typeface="Times New Roman" pitchFamily="18" charset="0"/>
                <a:cs typeface="Times New Roman" pitchFamily="18" charset="0"/>
              </a:rPr>
              <a:t>encoder</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Decoder Network: Extracts the secret text from the image</a:t>
            </a:r>
          </a:p>
          <a:p>
            <a:r>
              <a:rPr lang="en-US" sz="2800" dirty="0" err="1" smtClean="0">
                <a:latin typeface="Times New Roman" pitchFamily="18" charset="0"/>
                <a:cs typeface="Times New Roman" pitchFamily="18" charset="0"/>
              </a:rPr>
              <a:t>defbuild</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decoder(input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shape</a:t>
            </a: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text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length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vocab</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size</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image</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input </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layers.Input</a:t>
            </a:r>
            <a:r>
              <a:rPr lang="en-US" sz="2800" dirty="0" smtClean="0">
                <a:latin typeface="Times New Roman" pitchFamily="18" charset="0"/>
                <a:cs typeface="Times New Roman" pitchFamily="18" charset="0"/>
              </a:rPr>
              <a:t>(shape=input</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image</a:t>
            </a:r>
            <a:r>
              <a:rPr lang="en-IN" sz="2800" dirty="0" smtClean="0">
                <a:latin typeface="Times New Roman" pitchFamily="18" charset="0"/>
                <a:cs typeface="Times New Roman" pitchFamily="18" charset="0"/>
              </a:rPr>
              <a:t>_</a:t>
            </a:r>
            <a:r>
              <a:rPr lang="en-US" sz="2800" dirty="0" smtClean="0">
                <a:latin typeface="Times New Roman" pitchFamily="18" charset="0"/>
                <a:cs typeface="Times New Roman" pitchFamily="18" charset="0"/>
              </a:rPr>
              <a:t>shape)</a:t>
            </a:r>
          </a:p>
          <a:p>
            <a:r>
              <a:rPr lang="en-US" sz="2800" dirty="0" smtClean="0">
                <a:latin typeface="Times New Roman" pitchFamily="18" charset="0"/>
                <a:cs typeface="Times New Roman" pitchFamily="18" charset="0"/>
              </a:rPr>
              <a:t># CNN layers to process the encoded image and extract text features</a:t>
            </a:r>
          </a:p>
          <a:p>
            <a:r>
              <a:rPr lang="en-US" sz="2800" dirty="0" smtClean="0">
                <a:latin typeface="Times New Roman" pitchFamily="18" charset="0"/>
                <a:cs typeface="Times New Roman" pitchFamily="18" charset="0"/>
              </a:rPr>
              <a:t>    x = layers.Conv2D(128, (3, 3), activation='</a:t>
            </a:r>
            <a:r>
              <a:rPr lang="en-US" sz="2800" dirty="0" err="1" smtClean="0">
                <a:latin typeface="Times New Roman" pitchFamily="18" charset="0"/>
                <a:cs typeface="Times New Roman" pitchFamily="18" charset="0"/>
              </a:rPr>
              <a:t>relu</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image_input</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x = layers.MaxPooling2D()(x)</a:t>
            </a:r>
          </a:p>
          <a:p>
            <a:r>
              <a:rPr lang="en-US" sz="2800" dirty="0" smtClean="0">
                <a:latin typeface="Times New Roman" pitchFamily="18" charset="0"/>
                <a:cs typeface="Times New Roman" pitchFamily="18" charset="0"/>
              </a:rPr>
              <a:t>    x = layers.Conv2D(64, (3, 3), activation='</a:t>
            </a:r>
            <a:r>
              <a:rPr lang="en-US" sz="2800" dirty="0" err="1" smtClean="0">
                <a:latin typeface="Times New Roman" pitchFamily="18" charset="0"/>
                <a:cs typeface="Times New Roman" pitchFamily="18" charset="0"/>
              </a:rPr>
              <a:t>relu</a:t>
            </a:r>
            <a:r>
              <a:rPr lang="en-US" sz="2800" dirty="0" smtClean="0">
                <a:latin typeface="Times New Roman" pitchFamily="18" charset="0"/>
                <a:cs typeface="Times New Roman" pitchFamily="18" charset="0"/>
              </a:rPr>
              <a:t>')(x</a:t>
            </a:r>
            <a:r>
              <a:rPr lang="en-US" sz="2800" dirty="0" smtClean="0">
                <a:latin typeface="Times New Roman" pitchFamily="18" charset="0"/>
                <a:cs typeface="Times New Roman" pitchFamily="18" charset="0"/>
              </a:rPr>
              <a:t>)</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26" y="357154"/>
            <a:ext cx="6286544" cy="369332"/>
          </a:xfrm>
          <a:prstGeom prst="rect">
            <a:avLst/>
          </a:prstGeom>
          <a:noFill/>
        </p:spPr>
        <p:txBody>
          <a:bodyPr wrap="square" rtlCol="0">
            <a:spAutoFit/>
          </a:bodyPr>
          <a:lstStyle/>
          <a:p>
            <a:endParaRPr lang="en-US" dirty="0"/>
          </a:p>
        </p:txBody>
      </p:sp>
      <p:sp>
        <p:nvSpPr>
          <p:cNvPr id="4" name="TextBox 3"/>
          <p:cNvSpPr txBox="1"/>
          <p:nvPr/>
        </p:nvSpPr>
        <p:spPr>
          <a:xfrm>
            <a:off x="500002" y="38076"/>
            <a:ext cx="15359170" cy="10248960"/>
          </a:xfrm>
          <a:prstGeom prst="rect">
            <a:avLst/>
          </a:prstGeom>
          <a:noFill/>
        </p:spPr>
        <p:txBody>
          <a:bodyPr wrap="square" rtlCol="0">
            <a:spAutoFit/>
          </a:bodyPr>
          <a:lstStyle/>
          <a:p>
            <a:r>
              <a:rPr lang="en-US" sz="3000" dirty="0" smtClean="0">
                <a:latin typeface="Times New Roman" pitchFamily="18" charset="0"/>
                <a:cs typeface="Times New Roman" pitchFamily="18" charset="0"/>
              </a:rPr>
              <a:t> x = layers.MaxPooling2D()(x)</a:t>
            </a: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x = layers.Conv2D(32, (3, 3), activation='</a:t>
            </a:r>
            <a:r>
              <a:rPr lang="en-US" sz="3000" dirty="0" err="1" smtClean="0">
                <a:latin typeface="Times New Roman" pitchFamily="18" charset="0"/>
                <a:cs typeface="Times New Roman" pitchFamily="18" charset="0"/>
              </a:rPr>
              <a:t>relu</a:t>
            </a:r>
            <a:r>
              <a:rPr lang="en-US" sz="3000" dirty="0" smtClean="0">
                <a:latin typeface="Times New Roman" pitchFamily="18" charset="0"/>
                <a:cs typeface="Times New Roman" pitchFamily="18" charset="0"/>
              </a:rPr>
              <a:t>')(x)</a:t>
            </a: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x </a:t>
            </a:r>
            <a:r>
              <a:rPr lang="en-US" sz="3000" dirty="0" smtClean="0">
                <a:latin typeface="Times New Roman" pitchFamily="18" charset="0"/>
                <a:cs typeface="Times New Roman" pitchFamily="18" charset="0"/>
              </a:rPr>
              <a:t>= layers.MaxPooling2D()(x)</a:t>
            </a: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x = </a:t>
            </a:r>
            <a:r>
              <a:rPr lang="en-US" sz="3000" dirty="0" err="1" smtClean="0">
                <a:latin typeface="Times New Roman" pitchFamily="18" charset="0"/>
                <a:cs typeface="Times New Roman" pitchFamily="18" charset="0"/>
              </a:rPr>
              <a:t>layers.Flatten</a:t>
            </a:r>
            <a:r>
              <a:rPr lang="en-US" sz="3000" dirty="0" smtClean="0">
                <a:latin typeface="Times New Roman" pitchFamily="18" charset="0"/>
                <a:cs typeface="Times New Roman" pitchFamily="18" charset="0"/>
              </a:rPr>
              <a:t>()(x</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layers.Dense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text_length</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vocab_size</a:t>
            </a:r>
            <a:r>
              <a:rPr lang="en-US" sz="3000" dirty="0" smtClean="0">
                <a:latin typeface="Times New Roman" pitchFamily="18" charset="0"/>
                <a:cs typeface="Times New Roman" pitchFamily="18" charset="0"/>
              </a:rPr>
              <a:t>, activation='</a:t>
            </a:r>
            <a:r>
              <a:rPr lang="en-US" sz="3000" dirty="0" err="1" smtClean="0">
                <a:latin typeface="Times New Roman" pitchFamily="18" charset="0"/>
                <a:cs typeface="Times New Roman" pitchFamily="18" charset="0"/>
              </a:rPr>
              <a:t>softmax</a:t>
            </a:r>
            <a:r>
              <a:rPr lang="en-US" sz="3000" dirty="0" smtClean="0">
                <a:latin typeface="Times New Roman" pitchFamily="18" charset="0"/>
                <a:cs typeface="Times New Roman" pitchFamily="18" charset="0"/>
              </a:rPr>
              <a:t>')(x)</a:t>
            </a:r>
          </a:p>
          <a:p>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layers.Reshape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text_length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vocab_size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decoder = Model(inputs=</a:t>
            </a:r>
            <a:r>
              <a:rPr lang="en-US" sz="3000" dirty="0" err="1" smtClean="0">
                <a:latin typeface="Times New Roman" pitchFamily="18" charset="0"/>
                <a:cs typeface="Times New Roman" pitchFamily="18" charset="0"/>
              </a:rPr>
              <a:t>image_input</a:t>
            </a:r>
            <a:r>
              <a:rPr lang="en-US" sz="3000" dirty="0" smtClean="0">
                <a:latin typeface="Times New Roman" pitchFamily="18" charset="0"/>
                <a:cs typeface="Times New Roman" pitchFamily="18" charset="0"/>
              </a:rPr>
              <a:t>, outputs=</a:t>
            </a:r>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return </a:t>
            </a:r>
            <a:r>
              <a:rPr lang="en-US" sz="3000" dirty="0" smtClean="0">
                <a:latin typeface="Times New Roman" pitchFamily="18" charset="0"/>
                <a:cs typeface="Times New Roman" pitchFamily="18" charset="0"/>
              </a:rPr>
              <a:t>decoder</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global filename, </a:t>
            </a:r>
            <a:r>
              <a:rPr lang="en-US" sz="3000" dirty="0" err="1" smtClean="0">
                <a:latin typeface="Times New Roman" pitchFamily="18" charset="0"/>
                <a:cs typeface="Times New Roman" pitchFamily="18" charset="0"/>
              </a:rPr>
              <a:t>uploaded_file_url</a:t>
            </a:r>
            <a:endParaRPr lang="en-US" sz="3000" dirty="0" smtClean="0">
              <a:latin typeface="Times New Roman" pitchFamily="18" charset="0"/>
              <a:cs typeface="Times New Roman" pitchFamily="18" charset="0"/>
            </a:endParaRPr>
          </a:p>
          <a:p>
            <a:r>
              <a:rPr lang="en-US" sz="3000" dirty="0" err="1" smtClean="0">
                <a:latin typeface="Times New Roman" pitchFamily="18" charset="0"/>
                <a:cs typeface="Times New Roman" pitchFamily="18" charset="0"/>
              </a:rPr>
              <a:t>defEncodeAction</a:t>
            </a:r>
            <a:r>
              <a:rPr lang="en-US" sz="3000" dirty="0" smtClean="0">
                <a:latin typeface="Times New Roman" pitchFamily="18" charset="0"/>
                <a:cs typeface="Times New Roman" pitchFamily="18" charset="0"/>
              </a:rPr>
              <a:t>(request):</a:t>
            </a:r>
          </a:p>
          <a:p>
            <a:r>
              <a:rPr lang="en-US" sz="3000" dirty="0" smtClean="0">
                <a:latin typeface="Times New Roman" pitchFamily="18" charset="0"/>
                <a:cs typeface="Times New Roman" pitchFamily="18" charset="0"/>
              </a:rPr>
              <a:t>global filename, </a:t>
            </a:r>
            <a:r>
              <a:rPr lang="en-US" sz="3000" dirty="0" err="1" smtClean="0">
                <a:latin typeface="Times New Roman" pitchFamily="18" charset="0"/>
                <a:cs typeface="Times New Roman" pitchFamily="18" charset="0"/>
              </a:rPr>
              <a:t>uploaded_file_url</a:t>
            </a:r>
            <a:endParaRPr lang="en-US" sz="3000" dirty="0" smtClean="0">
              <a:latin typeface="Times New Roman" pitchFamily="18" charset="0"/>
              <a:cs typeface="Times New Roman" pitchFamily="18" charset="0"/>
            </a:endParaRPr>
          </a:p>
          <a:p>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a:t>
            </a:r>
            <a:r>
              <a:rPr lang="en-US" sz="3000" dirty="0" smtClean="0">
                <a:latin typeface="Times New Roman" pitchFamily="18" charset="0"/>
                <a:cs typeface="Times New Roman" pitchFamily="18" charset="0"/>
              </a:rPr>
              <a:t>'null‘</a:t>
            </a: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if </a:t>
            </a:r>
            <a:r>
              <a:rPr lang="en-US" sz="3000" dirty="0" err="1" smtClean="0">
                <a:latin typeface="Times New Roman" pitchFamily="18" charset="0"/>
                <a:cs typeface="Times New Roman" pitchFamily="18" charset="0"/>
              </a:rPr>
              <a:t>request.method</a:t>
            </a:r>
            <a:r>
              <a:rPr lang="en-US" sz="3000" dirty="0" smtClean="0">
                <a:latin typeface="Times New Roman" pitchFamily="18" charset="0"/>
                <a:cs typeface="Times New Roman" pitchFamily="18" charset="0"/>
              </a:rPr>
              <a:t> == 'POST' and </a:t>
            </a:r>
            <a:r>
              <a:rPr lang="en-US" sz="3000" dirty="0" err="1" smtClean="0">
                <a:latin typeface="Times New Roman" pitchFamily="18" charset="0"/>
                <a:cs typeface="Times New Roman" pitchFamily="18" charset="0"/>
              </a:rPr>
              <a:t>request.FILES</a:t>
            </a:r>
            <a:r>
              <a:rPr lang="en-US" sz="3000" dirty="0" smtClean="0">
                <a:latin typeface="Times New Roman" pitchFamily="18" charset="0"/>
                <a:cs typeface="Times New Roman" pitchFamily="18" charset="0"/>
              </a:rPr>
              <a:t>['file']:</a:t>
            </a:r>
          </a:p>
          <a:p>
            <a:r>
              <a:rPr lang="en-US" sz="3000" dirty="0" err="1" smtClean="0">
                <a:latin typeface="Times New Roman" pitchFamily="18" charset="0"/>
                <a:cs typeface="Times New Roman" pitchFamily="18" charset="0"/>
              </a:rPr>
              <a:t>myfile</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request.FILES</a:t>
            </a:r>
            <a:r>
              <a:rPr lang="en-US" sz="3000" dirty="0" smtClean="0">
                <a:latin typeface="Times New Roman" pitchFamily="18" charset="0"/>
                <a:cs typeface="Times New Roman" pitchFamily="18" charset="0"/>
              </a:rPr>
              <a:t>['file']</a:t>
            </a:r>
          </a:p>
          <a:p>
            <a:r>
              <a:rPr lang="en-US" sz="3000" dirty="0" smtClean="0">
                <a:latin typeface="Times New Roman" pitchFamily="18" charset="0"/>
                <a:cs typeface="Times New Roman" pitchFamily="18" charset="0"/>
              </a:rPr>
              <a:t>message = request.POST['message']</a:t>
            </a:r>
          </a:p>
          <a:p>
            <a:r>
              <a:rPr lang="en-IN" sz="3000" dirty="0" err="1" smtClean="0">
                <a:latin typeface="Times New Roman" pitchFamily="18" charset="0"/>
                <a:cs typeface="Times New Roman" pitchFamily="18" charset="0"/>
              </a:rPr>
              <a:t>iflen</a:t>
            </a:r>
            <a:r>
              <a:rPr lang="en-IN" sz="3000" dirty="0" smtClean="0">
                <a:latin typeface="Times New Roman" pitchFamily="18" charset="0"/>
                <a:cs typeface="Times New Roman" pitchFamily="18" charset="0"/>
              </a:rPr>
              <a:t>(message) == 20: </a:t>
            </a:r>
            <a:endParaRPr lang="en-IN" sz="3000" dirty="0" smtClean="0">
              <a:latin typeface="Times New Roman" pitchFamily="18" charset="0"/>
              <a:cs typeface="Times New Roman" pitchFamily="18" charset="0"/>
            </a:endParaRPr>
          </a:p>
          <a:p>
            <a:r>
              <a:rPr lang="en-US" sz="3000" dirty="0" err="1" smtClean="0">
                <a:latin typeface="Times New Roman" pitchFamily="18" charset="0"/>
                <a:cs typeface="Times New Roman" pitchFamily="18" charset="0"/>
              </a:rPr>
              <a:t>fs</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FileSystemStorage</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location = myfile.name</a:t>
            </a:r>
          </a:p>
          <a:p>
            <a:r>
              <a:rPr lang="en-US" sz="3000" dirty="0" smtClean="0">
                <a:latin typeface="Times New Roman" pitchFamily="18" charset="0"/>
                <a:cs typeface="Times New Roman" pitchFamily="18" charset="0"/>
              </a:rPr>
              <a:t>filename = </a:t>
            </a:r>
            <a:r>
              <a:rPr lang="en-US" sz="3000" dirty="0" err="1" smtClean="0">
                <a:latin typeface="Times New Roman" pitchFamily="18" charset="0"/>
                <a:cs typeface="Times New Roman" pitchFamily="18" charset="0"/>
              </a:rPr>
              <a:t>fs.save</a:t>
            </a:r>
            <a:r>
              <a:rPr lang="en-US" sz="3000" dirty="0" smtClean="0">
                <a:latin typeface="Times New Roman" pitchFamily="18" charset="0"/>
                <a:cs typeface="Times New Roman" pitchFamily="18" charset="0"/>
              </a:rPr>
              <a:t>(myfile.name, </a:t>
            </a:r>
            <a:r>
              <a:rPr lang="en-US" sz="3000" dirty="0" err="1" smtClean="0">
                <a:latin typeface="Times New Roman" pitchFamily="18" charset="0"/>
                <a:cs typeface="Times New Roman" pitchFamily="18" charset="0"/>
              </a:rPr>
              <a:t>myfile</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uploaded_file_url</a:t>
            </a:r>
            <a:r>
              <a:rPr lang="en-US" sz="3000" dirty="0" smtClean="0">
                <a:latin typeface="Times New Roman" pitchFamily="18" charset="0"/>
                <a:cs typeface="Times New Roman" pitchFamily="18" charset="0"/>
              </a:rPr>
              <a:t> = fs.url(filename)</a:t>
            </a: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BASE_DIR </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os.path.dirname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os.path.dirname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os.path.abspath</a:t>
            </a:r>
            <a:r>
              <a:rPr lang="en-US" sz="3000" dirty="0" smtClean="0">
                <a:latin typeface="Times New Roman" pitchFamily="18" charset="0"/>
                <a:cs typeface="Times New Roman" pitchFamily="18" charset="0"/>
              </a:rPr>
              <a:t>(__file__)))</a:t>
            </a:r>
          </a:p>
          <a:p>
            <a:r>
              <a:rPr lang="en-US" sz="3000" dirty="0" err="1" smtClean="0">
                <a:latin typeface="Times New Roman" pitchFamily="18" charset="0"/>
                <a:cs typeface="Times New Roman" pitchFamily="18" charset="0"/>
              </a:rPr>
              <a:t>imagedisplay</a:t>
            </a:r>
            <a:r>
              <a:rPr lang="en-US" sz="3000" dirty="0" smtClean="0">
                <a:latin typeface="Times New Roman" pitchFamily="18" charset="0"/>
                <a:cs typeface="Times New Roman" pitchFamily="18" charset="0"/>
              </a:rPr>
              <a:t> = cv2.imread(BASE_DIR + "/" + </a:t>
            </a:r>
            <a:r>
              <a:rPr lang="en-US" sz="3000" dirty="0" err="1" smtClean="0">
                <a:latin typeface="Times New Roman" pitchFamily="18" charset="0"/>
                <a:cs typeface="Times New Roman" pitchFamily="18" charset="0"/>
              </a:rPr>
              <a:t>uploaded_file_url</a:t>
            </a:r>
            <a:r>
              <a:rPr lang="en-US" sz="3000" dirty="0" smtClean="0">
                <a:latin typeface="Times New Roman" pitchFamily="18" charset="0"/>
                <a:cs typeface="Times New Roman" pitchFamily="18" charset="0"/>
              </a:rPr>
              <a:t>)</a:t>
            </a:r>
            <a:endParaRPr lang="en-US" sz="3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440" y="214278"/>
            <a:ext cx="16787930" cy="9787295"/>
          </a:xfrm>
          <a:prstGeom prst="rect">
            <a:avLst/>
          </a:prstGeom>
          <a:noFill/>
        </p:spPr>
        <p:txBody>
          <a:bodyPr wrap="square" rtlCol="0">
            <a:spAutoFit/>
          </a:bodyPr>
          <a:lstStyle/>
          <a:p>
            <a:r>
              <a:rPr lang="en-US" sz="3000" dirty="0" err="1" smtClean="0">
                <a:latin typeface="Times New Roman" pitchFamily="18" charset="0"/>
                <a:cs typeface="Times New Roman" pitchFamily="18" charset="0"/>
              </a:rPr>
              <a:t>uploaded_file_url</a:t>
            </a:r>
            <a:r>
              <a:rPr lang="en-US" sz="3000" dirty="0" smtClean="0">
                <a:latin typeface="Times New Roman" pitchFamily="18" charset="0"/>
                <a:cs typeface="Times New Roman" pitchFamily="18" charset="0"/>
              </a:rPr>
              <a:t> = fs.url(filename)</a:t>
            </a:r>
          </a:p>
          <a:p>
            <a:r>
              <a:rPr lang="en-US" sz="3000" dirty="0" smtClean="0">
                <a:latin typeface="Times New Roman" pitchFamily="18" charset="0"/>
                <a:cs typeface="Times New Roman" pitchFamily="18" charset="0"/>
              </a:rPr>
              <a:t>            BASE_DIR = </a:t>
            </a:r>
            <a:r>
              <a:rPr lang="en-US" sz="3000" dirty="0" err="1" smtClean="0">
                <a:latin typeface="Times New Roman" pitchFamily="18" charset="0"/>
                <a:cs typeface="Times New Roman" pitchFamily="18" charset="0"/>
              </a:rPr>
              <a:t>os.path.dirname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os.path.dirname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os.path.abspath</a:t>
            </a:r>
            <a:r>
              <a:rPr lang="en-US" sz="3000" dirty="0" smtClean="0">
                <a:latin typeface="Times New Roman" pitchFamily="18" charset="0"/>
                <a:cs typeface="Times New Roman" pitchFamily="18" charset="0"/>
              </a:rPr>
              <a:t>(__file__)))</a:t>
            </a:r>
          </a:p>
          <a:p>
            <a:r>
              <a:rPr lang="en-US" sz="3000" dirty="0" err="1" smtClean="0">
                <a:latin typeface="Times New Roman" pitchFamily="18" charset="0"/>
                <a:cs typeface="Times New Roman" pitchFamily="18" charset="0"/>
              </a:rPr>
              <a:t>imagedisplay</a:t>
            </a:r>
            <a:r>
              <a:rPr lang="en-US" sz="3000" dirty="0" smtClean="0">
                <a:latin typeface="Times New Roman" pitchFamily="18" charset="0"/>
                <a:cs typeface="Times New Roman" pitchFamily="18" charset="0"/>
              </a:rPr>
              <a:t> = cv2.imread(BASE_DIR + "/" + </a:t>
            </a:r>
            <a:r>
              <a:rPr lang="en-US" sz="3000" dirty="0" err="1" smtClean="0">
                <a:latin typeface="Times New Roman" pitchFamily="18" charset="0"/>
                <a:cs typeface="Times New Roman" pitchFamily="18" charset="0"/>
              </a:rPr>
              <a:t>uploaded_file_url</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Load an image from your system (ensure the path is correct)</a:t>
            </a:r>
          </a:p>
          <a:p>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image_path</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myfile</a:t>
            </a:r>
            <a:r>
              <a:rPr lang="en-US" sz="3000" dirty="0" smtClean="0">
                <a:latin typeface="Times New Roman" pitchFamily="18" charset="0"/>
                <a:cs typeface="Times New Roman" pitchFamily="18" charset="0"/>
              </a:rPr>
              <a:t>  # Replace with the actual path to your image</a:t>
            </a:r>
          </a:p>
          <a:p>
            <a:r>
              <a:rPr lang="en-US" sz="3000" dirty="0" err="1" smtClean="0">
                <a:latin typeface="Times New Roman" pitchFamily="18" charset="0"/>
                <a:cs typeface="Times New Roman" pitchFamily="18" charset="0"/>
              </a:rPr>
              <a:t>img</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image.load_img</a:t>
            </a:r>
            <a:r>
              <a:rPr lang="en-US" sz="3000" dirty="0" smtClean="0">
                <a:latin typeface="Times New Roman" pitchFamily="18" charset="0"/>
                <a:cs typeface="Times New Roman" pitchFamily="18" charset="0"/>
              </a:rPr>
              <a:t>(BASE_DIR + "/" + </a:t>
            </a:r>
            <a:r>
              <a:rPr lang="en-US" sz="3000" dirty="0" err="1" smtClean="0">
                <a:latin typeface="Times New Roman" pitchFamily="18" charset="0"/>
                <a:cs typeface="Times New Roman" pitchFamily="18" charset="0"/>
              </a:rPr>
              <a:t>uploaded_file_url</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target_size</a:t>
            </a:r>
            <a:r>
              <a:rPr lang="en-US" sz="3000" dirty="0" smtClean="0">
                <a:latin typeface="Times New Roman" pitchFamily="18" charset="0"/>
                <a:cs typeface="Times New Roman" pitchFamily="18" charset="0"/>
              </a:rPr>
              <a:t>=(32, 32)) </a:t>
            </a:r>
          </a:p>
          <a:p>
            <a:r>
              <a:rPr lang="en-US" sz="3000" dirty="0" smtClean="0">
                <a:latin typeface="Times New Roman" pitchFamily="18" charset="0"/>
                <a:cs typeface="Times New Roman" pitchFamily="18" charset="0"/>
              </a:rPr>
              <a:t> # Resize to 128x128</a:t>
            </a:r>
          </a:p>
          <a:p>
            <a:r>
              <a:rPr lang="en-US" sz="3000" dirty="0" err="1" smtClean="0">
                <a:latin typeface="Times New Roman" pitchFamily="18" charset="0"/>
                <a:cs typeface="Times New Roman" pitchFamily="18" charset="0"/>
              </a:rPr>
              <a:t>img_array</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image.img_to_array</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img</a:t>
            </a:r>
            <a:r>
              <a:rPr lang="en-US" sz="3000" dirty="0" smtClean="0">
                <a:latin typeface="Times New Roman" pitchFamily="18" charset="0"/>
                <a:cs typeface="Times New Roman" pitchFamily="18" charset="0"/>
              </a:rPr>
              <a:t>)  # Convert image to </a:t>
            </a:r>
            <a:r>
              <a:rPr lang="en-US" sz="3000" dirty="0" err="1" smtClean="0">
                <a:latin typeface="Times New Roman" pitchFamily="18" charset="0"/>
                <a:cs typeface="Times New Roman" pitchFamily="18" charset="0"/>
              </a:rPr>
              <a:t>numpy</a:t>
            </a:r>
            <a:r>
              <a:rPr lang="en-US" sz="3000" dirty="0" smtClean="0">
                <a:latin typeface="Times New Roman" pitchFamily="18" charset="0"/>
                <a:cs typeface="Times New Roman" pitchFamily="18" charset="0"/>
              </a:rPr>
              <a:t> array</a:t>
            </a:r>
          </a:p>
          <a:p>
            <a:r>
              <a:rPr lang="en-US" sz="3000" dirty="0" smtClean="0">
                <a:latin typeface="Times New Roman" pitchFamily="18" charset="0"/>
                <a:cs typeface="Times New Roman" pitchFamily="18" charset="0"/>
              </a:rPr>
              <a:t>            # Normalize the image to [0, 1]</a:t>
            </a:r>
          </a:p>
          <a:p>
            <a:r>
              <a:rPr lang="en-US" sz="3000" dirty="0" err="1" smtClean="0">
                <a:latin typeface="Times New Roman" pitchFamily="18" charset="0"/>
                <a:cs typeface="Times New Roman" pitchFamily="18" charset="0"/>
              </a:rPr>
              <a:t>img_array</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img_array</a:t>
            </a:r>
            <a:r>
              <a:rPr lang="en-US" sz="3000" dirty="0" smtClean="0">
                <a:latin typeface="Times New Roman" pitchFamily="18" charset="0"/>
                <a:cs typeface="Times New Roman" pitchFamily="18" charset="0"/>
              </a:rPr>
              <a:t> / </a:t>
            </a:r>
            <a:r>
              <a:rPr lang="en-US" sz="3000" dirty="0" smtClean="0">
                <a:latin typeface="Times New Roman" pitchFamily="18" charset="0"/>
                <a:cs typeface="Times New Roman" pitchFamily="18" charset="0"/>
              </a:rPr>
              <a:t>255.0</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Display the image</a:t>
            </a:r>
          </a:p>
          <a:p>
            <a:r>
              <a:rPr lang="en-US" sz="3000" dirty="0" err="1" smtClean="0">
                <a:latin typeface="Times New Roman" pitchFamily="18" charset="0"/>
                <a:cs typeface="Times New Roman" pitchFamily="18" charset="0"/>
              </a:rPr>
              <a:t>plt.imshow</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img_array</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plt.title</a:t>
            </a:r>
            <a:r>
              <a:rPr lang="en-US" sz="3000" dirty="0" smtClean="0">
                <a:latin typeface="Times New Roman" pitchFamily="18" charset="0"/>
                <a:cs typeface="Times New Roman" pitchFamily="18" charset="0"/>
              </a:rPr>
              <a:t>('Uploaded Image')</a:t>
            </a:r>
          </a:p>
          <a:p>
            <a:r>
              <a:rPr lang="en-US" sz="3000" dirty="0" err="1" smtClean="0">
                <a:latin typeface="Times New Roman" pitchFamily="18" charset="0"/>
                <a:cs typeface="Times New Roman" pitchFamily="18" charset="0"/>
              </a:rPr>
              <a:t>plt.show</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plt.close</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print("Image Shape:", </a:t>
            </a:r>
            <a:r>
              <a:rPr lang="en-US" sz="3000" dirty="0" err="1" smtClean="0">
                <a:latin typeface="Times New Roman" pitchFamily="18" charset="0"/>
                <a:cs typeface="Times New Roman" pitchFamily="18" charset="0"/>
              </a:rPr>
              <a:t>img_array.shape</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 Example secret text and text length</a:t>
            </a:r>
          </a:p>
          <a:p>
            <a:r>
              <a:rPr lang="en-US" sz="3000" dirty="0" err="1" smtClean="0">
                <a:latin typeface="Times New Roman" pitchFamily="18" charset="0"/>
                <a:cs typeface="Times New Roman" pitchFamily="18" charset="0"/>
              </a:rPr>
              <a:t>secret_text</a:t>
            </a:r>
            <a:r>
              <a:rPr lang="en-US" sz="3000" dirty="0" smtClean="0">
                <a:latin typeface="Times New Roman" pitchFamily="18" charset="0"/>
                <a:cs typeface="Times New Roman" pitchFamily="18" charset="0"/>
              </a:rPr>
              <a:t> = message</a:t>
            </a:r>
          </a:p>
          <a:p>
            <a:r>
              <a:rPr lang="en-US" sz="3000" dirty="0" err="1" smtClean="0">
                <a:latin typeface="Times New Roman" pitchFamily="18" charset="0"/>
                <a:cs typeface="Times New Roman" pitchFamily="18" charset="0"/>
              </a:rPr>
              <a:t>text_length</a:t>
            </a:r>
            <a:r>
              <a:rPr lang="en-US" sz="3000" dirty="0" smtClean="0">
                <a:latin typeface="Times New Roman" pitchFamily="18" charset="0"/>
                <a:cs typeface="Times New Roman" pitchFamily="18" charset="0"/>
              </a:rPr>
              <a:t> = 20  # Maximum length of the secret text</a:t>
            </a:r>
          </a:p>
          <a:p>
            <a:r>
              <a:rPr lang="en-US" sz="3000" dirty="0" err="1" smtClean="0">
                <a:latin typeface="Times New Roman" pitchFamily="18" charset="0"/>
                <a:cs typeface="Times New Roman" pitchFamily="18" charset="0"/>
              </a:rPr>
              <a:t>encoded_text</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text_to_one_hot</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secret_text</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char_to_index</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text_length</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print("Encoded Text Shape:", </a:t>
            </a:r>
            <a:r>
              <a:rPr lang="en-US" sz="3000" dirty="0" err="1" smtClean="0">
                <a:latin typeface="Times New Roman" pitchFamily="18" charset="0"/>
                <a:cs typeface="Times New Roman" pitchFamily="18" charset="0"/>
              </a:rPr>
              <a:t>encoded_text.shape</a:t>
            </a:r>
            <a:r>
              <a:rPr lang="en-US" sz="3000" dirty="0" smtClean="0">
                <a:latin typeface="Times New Roman" pitchFamily="18" charset="0"/>
                <a:cs typeface="Times New Roman" pitchFamily="18" charset="0"/>
              </a:rPr>
              <a:t>)</a:t>
            </a:r>
            <a:endParaRPr lang="en-US" sz="3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878" y="142840"/>
            <a:ext cx="16787930" cy="10033516"/>
          </a:xfrm>
          <a:prstGeom prst="rect">
            <a:avLst/>
          </a:prstGeom>
          <a:noFill/>
        </p:spPr>
        <p:txBody>
          <a:bodyPr wrap="square" rtlCol="0">
            <a:spAutoFit/>
          </a:bodyPr>
          <a:lstStyle/>
          <a:p>
            <a:r>
              <a:rPr lang="en-US" sz="32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 Define input image shape</a:t>
            </a:r>
          </a:p>
          <a:p>
            <a:r>
              <a:rPr lang="en-US" sz="3000" dirty="0" err="1" smtClean="0">
                <a:latin typeface="Times New Roman" pitchFamily="18" charset="0"/>
                <a:cs typeface="Times New Roman" pitchFamily="18" charset="0"/>
              </a:rPr>
              <a:t>input_image_shape</a:t>
            </a:r>
            <a:r>
              <a:rPr lang="en-US" sz="3000" dirty="0" smtClean="0">
                <a:latin typeface="Times New Roman" pitchFamily="18" charset="0"/>
                <a:cs typeface="Times New Roman" pitchFamily="18" charset="0"/>
              </a:rPr>
              <a:t> = (32, 32, 3</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Build encoder and decoder</a:t>
            </a:r>
          </a:p>
          <a:p>
            <a:r>
              <a:rPr lang="en-US" sz="3000" dirty="0" smtClean="0">
                <a:latin typeface="Times New Roman" pitchFamily="18" charset="0"/>
                <a:cs typeface="Times New Roman" pitchFamily="18" charset="0"/>
              </a:rPr>
              <a:t>encoder = </a:t>
            </a:r>
            <a:r>
              <a:rPr lang="en-US" sz="3000" dirty="0" err="1" smtClean="0">
                <a:latin typeface="Times New Roman" pitchFamily="18" charset="0"/>
                <a:cs typeface="Times New Roman" pitchFamily="18" charset="0"/>
              </a:rPr>
              <a:t>build_encoder</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input_image_shape</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text_length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len</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char_to_index</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decoder = </a:t>
            </a:r>
            <a:r>
              <a:rPr lang="en-US" sz="3000" dirty="0" err="1" smtClean="0">
                <a:latin typeface="Times New Roman" pitchFamily="18" charset="0"/>
                <a:cs typeface="Times New Roman" pitchFamily="18" charset="0"/>
              </a:rPr>
              <a:t>build_decoder</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input_image_shape</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text_length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len</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char_to_index</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Define the full model (encoder + decoder)</a:t>
            </a:r>
          </a:p>
          <a:p>
            <a:r>
              <a:rPr lang="en-US" sz="3000" dirty="0" err="1" smtClean="0">
                <a:latin typeface="Times New Roman" pitchFamily="18" charset="0"/>
                <a:cs typeface="Times New Roman" pitchFamily="18" charset="0"/>
              </a:rPr>
              <a:t>encoded_image</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encoder.output</a:t>
            </a:r>
            <a:r>
              <a:rPr lang="en-US" sz="3000" dirty="0" smtClean="0">
                <a:latin typeface="Times New Roman" pitchFamily="18" charset="0"/>
                <a:cs typeface="Times New Roman" pitchFamily="18" charset="0"/>
              </a:rPr>
              <a:t>                                                                                             </a:t>
            </a:r>
          </a:p>
          <a:p>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 = decoder(</a:t>
            </a:r>
            <a:r>
              <a:rPr lang="en-US" sz="3000" dirty="0" err="1" smtClean="0">
                <a:latin typeface="Times New Roman" pitchFamily="18" charset="0"/>
                <a:cs typeface="Times New Roman" pitchFamily="18" charset="0"/>
              </a:rPr>
              <a:t>encoded_image</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full_model</a:t>
            </a:r>
            <a:r>
              <a:rPr lang="en-US" sz="3000" dirty="0" smtClean="0">
                <a:latin typeface="Times New Roman" pitchFamily="18" charset="0"/>
                <a:cs typeface="Times New Roman" pitchFamily="18" charset="0"/>
              </a:rPr>
              <a:t> = Model(inputs=[</a:t>
            </a:r>
            <a:r>
              <a:rPr lang="en-US" sz="3000" dirty="0" err="1" smtClean="0">
                <a:latin typeface="Times New Roman" pitchFamily="18" charset="0"/>
                <a:cs typeface="Times New Roman" pitchFamily="18" charset="0"/>
              </a:rPr>
              <a:t>encoder.input</a:t>
            </a:r>
            <a:r>
              <a:rPr lang="en-US" sz="3000" dirty="0" smtClean="0">
                <a:latin typeface="Times New Roman" pitchFamily="18" charset="0"/>
                <a:cs typeface="Times New Roman" pitchFamily="18" charset="0"/>
              </a:rPr>
              <a:t>[0], </a:t>
            </a:r>
            <a:r>
              <a:rPr lang="en-US" sz="3000" dirty="0" err="1" smtClean="0">
                <a:latin typeface="Times New Roman" pitchFamily="18" charset="0"/>
                <a:cs typeface="Times New Roman" pitchFamily="18" charset="0"/>
              </a:rPr>
              <a:t>encoder.input</a:t>
            </a:r>
            <a:r>
              <a:rPr lang="en-US" sz="3000" dirty="0" smtClean="0">
                <a:latin typeface="Times New Roman" pitchFamily="18" charset="0"/>
                <a:cs typeface="Times New Roman" pitchFamily="18" charset="0"/>
              </a:rPr>
              <a:t>[1]], outputs=</a:t>
            </a:r>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full_model.compile</a:t>
            </a:r>
            <a:r>
              <a:rPr lang="en-US" sz="3000" dirty="0" smtClean="0">
                <a:latin typeface="Times New Roman" pitchFamily="18" charset="0"/>
                <a:cs typeface="Times New Roman" pitchFamily="18" charset="0"/>
              </a:rPr>
              <a:t>(optimizer='</a:t>
            </a:r>
            <a:r>
              <a:rPr lang="en-US" sz="3000" dirty="0" err="1" smtClean="0">
                <a:latin typeface="Times New Roman" pitchFamily="18" charset="0"/>
                <a:cs typeface="Times New Roman" pitchFamily="18" charset="0"/>
              </a:rPr>
              <a:t>adam</a:t>
            </a:r>
            <a:r>
              <a:rPr lang="en-US" sz="3000" dirty="0" smtClean="0">
                <a:latin typeface="Times New Roman" pitchFamily="18" charset="0"/>
                <a:cs typeface="Times New Roman" pitchFamily="18" charset="0"/>
              </a:rPr>
              <a:t>', loss='</a:t>
            </a:r>
            <a:r>
              <a:rPr lang="en-US" sz="3000" dirty="0" err="1" smtClean="0">
                <a:latin typeface="Times New Roman" pitchFamily="18" charset="0"/>
                <a:cs typeface="Times New Roman" pitchFamily="18" charset="0"/>
              </a:rPr>
              <a:t>categorical_crossentropy</a:t>
            </a:r>
            <a:r>
              <a:rPr lang="en-US" sz="3000" dirty="0" smtClean="0">
                <a:latin typeface="Times New Roman" pitchFamily="18" charset="0"/>
                <a:cs typeface="Times New Roman" pitchFamily="18" charset="0"/>
              </a:rPr>
              <a:t>', metrics=['accuracy'])</a:t>
            </a:r>
          </a:p>
          <a:p>
            <a:r>
              <a:rPr lang="en-US" sz="3000" dirty="0" err="1" smtClean="0">
                <a:latin typeface="Times New Roman" pitchFamily="18" charset="0"/>
                <a:cs typeface="Times New Roman" pitchFamily="18" charset="0"/>
              </a:rPr>
              <a:t>full_model.summary</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Prepare the image and text for training</a:t>
            </a:r>
          </a:p>
          <a:p>
            <a:r>
              <a:rPr lang="en-US" sz="3000" dirty="0" err="1" smtClean="0">
                <a:latin typeface="Times New Roman" pitchFamily="18" charset="0"/>
                <a:cs typeface="Times New Roman" pitchFamily="18" charset="0"/>
              </a:rPr>
              <a:t>train_images</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np.expand_dims</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img_array</a:t>
            </a:r>
            <a:r>
              <a:rPr lang="en-US" sz="3000" dirty="0" smtClean="0">
                <a:latin typeface="Times New Roman" pitchFamily="18" charset="0"/>
                <a:cs typeface="Times New Roman" pitchFamily="18" charset="0"/>
              </a:rPr>
              <a:t>, axis=0)  # Add batch dimension</a:t>
            </a:r>
          </a:p>
          <a:p>
            <a:r>
              <a:rPr lang="en-US" sz="3000" dirty="0" err="1" smtClean="0">
                <a:latin typeface="Times New Roman" pitchFamily="18" charset="0"/>
                <a:cs typeface="Times New Roman" pitchFamily="18" charset="0"/>
              </a:rPr>
              <a:t>train_texts</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np.expand_dims</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encoded_text</a:t>
            </a:r>
            <a:r>
              <a:rPr lang="en-US" sz="3000" dirty="0" smtClean="0">
                <a:latin typeface="Times New Roman" pitchFamily="18" charset="0"/>
                <a:cs typeface="Times New Roman" pitchFamily="18" charset="0"/>
              </a:rPr>
              <a:t>, axis=0)  # Add batch </a:t>
            </a:r>
            <a:r>
              <a:rPr lang="en-US" sz="3000" dirty="0" smtClean="0">
                <a:latin typeface="Times New Roman" pitchFamily="18" charset="0"/>
                <a:cs typeface="Times New Roman" pitchFamily="18" charset="0"/>
              </a:rPr>
              <a:t>dimension</a:t>
            </a:r>
          </a:p>
          <a:p>
            <a:r>
              <a:rPr lang="en-US" sz="3200" dirty="0" smtClean="0"/>
              <a:t> </a:t>
            </a:r>
            <a:r>
              <a:rPr lang="en-US" sz="3200" dirty="0" smtClean="0"/>
              <a:t>      # </a:t>
            </a:r>
            <a:r>
              <a:rPr lang="en-US" sz="3200" dirty="0" smtClean="0"/>
              <a:t>Train the full model</a:t>
            </a:r>
          </a:p>
          <a:p>
            <a:r>
              <a:rPr lang="en-US" sz="3200" dirty="0" smtClean="0"/>
              <a:t>full_model.fit([</a:t>
            </a:r>
            <a:r>
              <a:rPr lang="en-US" sz="3200" dirty="0" err="1" smtClean="0"/>
              <a:t>train_images</a:t>
            </a:r>
            <a:r>
              <a:rPr lang="en-US" sz="3200" dirty="0" smtClean="0"/>
              <a:t>, </a:t>
            </a:r>
            <a:r>
              <a:rPr lang="en-US" sz="3200" dirty="0" err="1" smtClean="0"/>
              <a:t>train_texts</a:t>
            </a:r>
            <a:r>
              <a:rPr lang="en-US" sz="3200" dirty="0" smtClean="0"/>
              <a:t>], </a:t>
            </a:r>
            <a:r>
              <a:rPr lang="en-US" sz="3200" dirty="0" err="1" smtClean="0"/>
              <a:t>train_texts</a:t>
            </a:r>
            <a:r>
              <a:rPr lang="en-US" sz="3200" dirty="0" smtClean="0"/>
              <a:t>, epochs=25, </a:t>
            </a:r>
            <a:r>
              <a:rPr lang="en-US" sz="3200" dirty="0" err="1" smtClean="0"/>
              <a:t>batch_size</a:t>
            </a:r>
            <a:r>
              <a:rPr lang="en-US" sz="3200" dirty="0" smtClean="0"/>
              <a:t>=1</a:t>
            </a:r>
            <a:r>
              <a:rPr lang="en-US" sz="3200" dirty="0" smtClean="0"/>
              <a:t>)</a:t>
            </a:r>
            <a:endParaRPr lang="en-US" sz="3200" dirty="0" smtClean="0"/>
          </a:p>
          <a:p>
            <a:r>
              <a:rPr lang="en-US" sz="3200" dirty="0" smtClean="0"/>
              <a:t>       </a:t>
            </a:r>
            <a:r>
              <a:rPr lang="en-US" sz="3200" dirty="0" smtClean="0"/>
              <a:t># </a:t>
            </a:r>
            <a:r>
              <a:rPr lang="en-US" sz="3200" dirty="0" smtClean="0"/>
              <a:t>Save the model for future use</a:t>
            </a:r>
          </a:p>
          <a:p>
            <a:r>
              <a:rPr lang="en-US" sz="3200" dirty="0" err="1" smtClean="0"/>
              <a:t>full_model.save</a:t>
            </a:r>
            <a:r>
              <a:rPr lang="en-US" sz="3200" dirty="0" smtClean="0"/>
              <a:t>('encoder_decoder_model.h5</a:t>
            </a:r>
            <a:r>
              <a:rPr lang="en-US" sz="3200" dirty="0" smtClean="0"/>
              <a:t>')</a:t>
            </a:r>
          </a:p>
          <a:p>
            <a:r>
              <a:rPr lang="en-US" sz="3200" dirty="0" smtClean="0"/>
              <a:t> </a:t>
            </a:r>
            <a:r>
              <a:rPr lang="en-US" sz="3200" dirty="0" smtClean="0">
                <a:latin typeface="Times New Roman" pitchFamily="18" charset="0"/>
                <a:cs typeface="Times New Roman" pitchFamily="18" charset="0"/>
              </a:rPr>
              <a:t># Test the model with a new image and secret text</a:t>
            </a:r>
          </a:p>
          <a:p>
            <a:r>
              <a:rPr lang="en-US" sz="3200" dirty="0" err="1" smtClean="0">
                <a:latin typeface="Times New Roman" pitchFamily="18" charset="0"/>
                <a:cs typeface="Times New Roman" pitchFamily="18" charset="0"/>
              </a:rPr>
              <a:t>test_image</a:t>
            </a:r>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np.expand_dims</a:t>
            </a:r>
            <a:r>
              <a:rPr lang="en-US" sz="3200" dirty="0" smtClean="0">
                <a:latin typeface="Times New Roman" pitchFamily="18" charset="0"/>
                <a:cs typeface="Times New Roman" pitchFamily="18" charset="0"/>
              </a:rPr>
              <a:t>(</a:t>
            </a:r>
            <a:r>
              <a:rPr lang="en-US" sz="3200" dirty="0" err="1" smtClean="0">
                <a:latin typeface="Times New Roman" pitchFamily="18" charset="0"/>
                <a:cs typeface="Times New Roman" pitchFamily="18" charset="0"/>
              </a:rPr>
              <a:t>img_array</a:t>
            </a:r>
            <a:r>
              <a:rPr lang="en-US" sz="3200" dirty="0" smtClean="0">
                <a:latin typeface="Times New Roman" pitchFamily="18" charset="0"/>
                <a:cs typeface="Times New Roman" pitchFamily="18" charset="0"/>
              </a:rPr>
              <a:t>, axis=0)  # Use the same test image</a:t>
            </a:r>
          </a:p>
          <a:p>
            <a:r>
              <a:rPr lang="en-US" sz="3200" dirty="0" err="1" smtClean="0">
                <a:latin typeface="Times New Roman" pitchFamily="18" charset="0"/>
                <a:cs typeface="Times New Roman" pitchFamily="18" charset="0"/>
              </a:rPr>
              <a:t>test_text</a:t>
            </a:r>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np.expand_dims</a:t>
            </a:r>
            <a:r>
              <a:rPr lang="en-US" sz="3200" dirty="0" smtClean="0">
                <a:latin typeface="Times New Roman" pitchFamily="18" charset="0"/>
                <a:cs typeface="Times New Roman" pitchFamily="18" charset="0"/>
              </a:rPr>
              <a:t>(</a:t>
            </a:r>
            <a:r>
              <a:rPr lang="en-US" sz="3200" dirty="0" err="1" smtClean="0">
                <a:latin typeface="Times New Roman" pitchFamily="18" charset="0"/>
                <a:cs typeface="Times New Roman" pitchFamily="18" charset="0"/>
              </a:rPr>
              <a:t>encoded_text</a:t>
            </a:r>
            <a:r>
              <a:rPr lang="en-US" sz="3200" dirty="0" smtClean="0">
                <a:latin typeface="Times New Roman" pitchFamily="18" charset="0"/>
                <a:cs typeface="Times New Roman" pitchFamily="18" charset="0"/>
              </a:rPr>
              <a:t>, axis=0)  # Use the same secret text</a:t>
            </a:r>
            <a:endParaRPr lang="en-US" sz="30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02" y="38040"/>
            <a:ext cx="17216558" cy="10248960"/>
          </a:xfrm>
          <a:prstGeom prst="rect">
            <a:avLst/>
          </a:prstGeom>
          <a:noFill/>
        </p:spPr>
        <p:txBody>
          <a:bodyPr wrap="square" rtlCol="0">
            <a:spAutoFit/>
          </a:bodyPr>
          <a:lstStyle/>
          <a:p>
            <a:r>
              <a:rPr lang="en-US" sz="3000" dirty="0" smtClean="0">
                <a:latin typeface="Times New Roman" pitchFamily="18" charset="0"/>
                <a:cs typeface="Times New Roman" pitchFamily="18" charset="0"/>
              </a:rPr>
              <a:t> # Encode the secret text into the image</a:t>
            </a:r>
          </a:p>
          <a:p>
            <a:r>
              <a:rPr lang="en-US" sz="3000" dirty="0" err="1" smtClean="0">
                <a:latin typeface="Times New Roman" pitchFamily="18" charset="0"/>
                <a:cs typeface="Times New Roman" pitchFamily="18" charset="0"/>
              </a:rPr>
              <a:t>encoded_test_image</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encoder.predict</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test_image</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test_text</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Remove the batch dimension by squeezing it (assuming only one image in the batch)</a:t>
            </a:r>
          </a:p>
          <a:p>
            <a:r>
              <a:rPr lang="en-US" sz="3000" dirty="0" err="1" smtClean="0">
                <a:latin typeface="Times New Roman" pitchFamily="18" charset="0"/>
                <a:cs typeface="Times New Roman" pitchFamily="18" charset="0"/>
              </a:rPr>
              <a:t>img_single</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encoded_test_image</a:t>
            </a:r>
            <a:r>
              <a:rPr lang="en-US" sz="3000" dirty="0" smtClean="0">
                <a:latin typeface="Times New Roman" pitchFamily="18" charset="0"/>
                <a:cs typeface="Times New Roman" pitchFamily="18" charset="0"/>
              </a:rPr>
              <a:t>[0]  </a:t>
            </a:r>
          </a:p>
          <a:p>
            <a:r>
              <a:rPr lang="en-US" sz="3000" dirty="0" smtClean="0">
                <a:latin typeface="Times New Roman" pitchFamily="18" charset="0"/>
                <a:cs typeface="Times New Roman" pitchFamily="18" charset="0"/>
              </a:rPr>
              <a:t>           # Or use </a:t>
            </a:r>
            <a:r>
              <a:rPr lang="en-US" sz="3000" dirty="0" err="1" smtClean="0">
                <a:latin typeface="Times New Roman" pitchFamily="18" charset="0"/>
                <a:cs typeface="Times New Roman" pitchFamily="18" charset="0"/>
              </a:rPr>
              <a:t>img_array.squeeze</a:t>
            </a:r>
            <a:r>
              <a:rPr lang="en-US" sz="3000" dirty="0" smtClean="0">
                <a:latin typeface="Times New Roman" pitchFamily="18" charset="0"/>
                <a:cs typeface="Times New Roman" pitchFamily="18" charset="0"/>
              </a:rPr>
              <a:t>() if you want to squeeze all dimensions</a:t>
            </a:r>
          </a:p>
          <a:p>
            <a:r>
              <a:rPr lang="en-US" sz="3000" dirty="0" smtClean="0">
                <a:latin typeface="Times New Roman" pitchFamily="18" charset="0"/>
                <a:cs typeface="Times New Roman" pitchFamily="18" charset="0"/>
              </a:rPr>
              <a:t>            # Display the image</a:t>
            </a:r>
          </a:p>
          <a:p>
            <a:r>
              <a:rPr lang="en-US" sz="3000" dirty="0" err="1" smtClean="0">
                <a:latin typeface="Times New Roman" pitchFamily="18" charset="0"/>
                <a:cs typeface="Times New Roman" pitchFamily="18" charset="0"/>
              </a:rPr>
              <a:t>plt.imshow</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img_single</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img_single</a:t>
            </a:r>
            <a:r>
              <a:rPr lang="en-US" sz="3000" dirty="0" smtClean="0">
                <a:latin typeface="Times New Roman" pitchFamily="18" charset="0"/>
                <a:cs typeface="Times New Roman" pitchFamily="18" charset="0"/>
              </a:rPr>
              <a:t> will have shape (32, 32, 3)</a:t>
            </a:r>
          </a:p>
          <a:p>
            <a:r>
              <a:rPr lang="en-US" sz="3000" dirty="0" err="1" smtClean="0">
                <a:latin typeface="Times New Roman" pitchFamily="18" charset="0"/>
                <a:cs typeface="Times New Roman" pitchFamily="18" charset="0"/>
              </a:rPr>
              <a:t>plt.title</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Steganography</a:t>
            </a:r>
            <a:r>
              <a:rPr lang="en-US" sz="3000" dirty="0" smtClean="0">
                <a:latin typeface="Times New Roman" pitchFamily="18" charset="0"/>
                <a:cs typeface="Times New Roman" pitchFamily="18" charset="0"/>
              </a:rPr>
              <a:t> Image')</a:t>
            </a:r>
          </a:p>
          <a:p>
            <a:r>
              <a:rPr lang="en-US" sz="3000" dirty="0" err="1" smtClean="0">
                <a:latin typeface="Times New Roman" pitchFamily="18" charset="0"/>
                <a:cs typeface="Times New Roman" pitchFamily="18" charset="0"/>
              </a:rPr>
              <a:t>plt.axis</a:t>
            </a:r>
            <a:r>
              <a:rPr lang="en-US" sz="3000" dirty="0" smtClean="0">
                <a:latin typeface="Times New Roman" pitchFamily="18" charset="0"/>
                <a:cs typeface="Times New Roman" pitchFamily="18" charset="0"/>
              </a:rPr>
              <a:t>('off')  # Hide axis for clarity</a:t>
            </a:r>
          </a:p>
          <a:p>
            <a:r>
              <a:rPr lang="en-US" sz="3000" dirty="0" err="1" smtClean="0">
                <a:latin typeface="Times New Roman" pitchFamily="18" charset="0"/>
                <a:cs typeface="Times New Roman" pitchFamily="18" charset="0"/>
              </a:rPr>
              <a:t>plt.savefig</a:t>
            </a:r>
            <a:r>
              <a:rPr lang="en-US" sz="3000" dirty="0" smtClean="0">
                <a:latin typeface="Times New Roman" pitchFamily="18" charset="0"/>
                <a:cs typeface="Times New Roman" pitchFamily="18" charset="0"/>
              </a:rPr>
              <a:t>('Stegano_image.png', </a:t>
            </a:r>
            <a:r>
              <a:rPr lang="en-US" sz="3000" dirty="0" err="1" smtClean="0">
                <a:latin typeface="Times New Roman" pitchFamily="18" charset="0"/>
                <a:cs typeface="Times New Roman" pitchFamily="18" charset="0"/>
              </a:rPr>
              <a:t>bbox_inches</a:t>
            </a:r>
            <a:r>
              <a:rPr lang="en-US" sz="3000" dirty="0" smtClean="0">
                <a:latin typeface="Times New Roman" pitchFamily="18" charset="0"/>
                <a:cs typeface="Times New Roman" pitchFamily="18" charset="0"/>
              </a:rPr>
              <a:t>='tight', </a:t>
            </a:r>
            <a:r>
              <a:rPr lang="en-US" sz="3000" dirty="0" err="1" smtClean="0">
                <a:latin typeface="Times New Roman" pitchFamily="18" charset="0"/>
                <a:cs typeface="Times New Roman" pitchFamily="18" charset="0"/>
              </a:rPr>
              <a:t>pad_inches</a:t>
            </a:r>
            <a:r>
              <a:rPr lang="en-US" sz="3000" dirty="0" smtClean="0">
                <a:latin typeface="Times New Roman" pitchFamily="18" charset="0"/>
                <a:cs typeface="Times New Roman" pitchFamily="18" charset="0"/>
              </a:rPr>
              <a:t>=0)</a:t>
            </a:r>
          </a:p>
          <a:p>
            <a:r>
              <a:rPr lang="en-US" sz="3000" dirty="0" err="1" smtClean="0">
                <a:latin typeface="Times New Roman" pitchFamily="18" charset="0"/>
                <a:cs typeface="Times New Roman" pitchFamily="18" charset="0"/>
              </a:rPr>
              <a:t>plt.show</a:t>
            </a:r>
            <a:r>
              <a:rPr lang="en-US" sz="3000" dirty="0" smtClean="0">
                <a:latin typeface="Times New Roman" pitchFamily="18" charset="0"/>
                <a:cs typeface="Times New Roman" pitchFamily="18" charset="0"/>
              </a:rPr>
              <a:t>()</a:t>
            </a:r>
          </a:p>
          <a:p>
            <a:r>
              <a:rPr lang="en-US" sz="3000" dirty="0" err="1" smtClean="0">
                <a:latin typeface="Times New Roman" pitchFamily="18" charset="0"/>
                <a:cs typeface="Times New Roman" pitchFamily="18" charset="0"/>
              </a:rPr>
              <a:t>plt.close</a:t>
            </a:r>
            <a:r>
              <a:rPr lang="en-US" sz="3000" dirty="0" smtClean="0">
                <a:latin typeface="Times New Roman" pitchFamily="18" charset="0"/>
                <a:cs typeface="Times New Roman" pitchFamily="18" charset="0"/>
              </a:rPr>
              <a:t>()</a:t>
            </a:r>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 Decode the text from the encoded image</a:t>
            </a:r>
          </a:p>
          <a:p>
            <a:r>
              <a:rPr lang="en-US" sz="3000" dirty="0" err="1" smtClean="0">
                <a:latin typeface="Times New Roman" pitchFamily="18" charset="0"/>
                <a:cs typeface="Times New Roman" pitchFamily="18" charset="0"/>
              </a:rPr>
              <a:t>decoded_text_from_image</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decoder.predict</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encoded_test_image</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 Convert the decoded output (one-hot encoding) back to text</a:t>
            </a:r>
          </a:p>
          <a:p>
            <a:r>
              <a:rPr lang="en-US" sz="3000" dirty="0" err="1" smtClean="0">
                <a:latin typeface="Times New Roman" pitchFamily="18" charset="0"/>
                <a:cs typeface="Times New Roman" pitchFamily="18" charset="0"/>
              </a:rPr>
              <a:t>decoded_text_from_image</a:t>
            </a:r>
            <a:r>
              <a:rPr lang="en-US" sz="3000" dirty="0" smtClean="0">
                <a:latin typeface="Times New Roman" pitchFamily="18" charset="0"/>
                <a:cs typeface="Times New Roman" pitchFamily="18" charset="0"/>
              </a:rPr>
              <a:t> = </a:t>
            </a:r>
            <a:r>
              <a:rPr lang="en-US" sz="3000" dirty="0" err="1" smtClean="0">
                <a:latin typeface="Times New Roman" pitchFamily="18" charset="0"/>
                <a:cs typeface="Times New Roman" pitchFamily="18" charset="0"/>
              </a:rPr>
              <a:t>np.argmax</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decoded_text_from_image</a:t>
            </a:r>
            <a:r>
              <a:rPr lang="en-US" sz="3000" dirty="0" smtClean="0">
                <a:latin typeface="Times New Roman" pitchFamily="18" charset="0"/>
                <a:cs typeface="Times New Roman" pitchFamily="18" charset="0"/>
              </a:rPr>
              <a:t>, axis=-1) </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 Get the indices</a:t>
            </a:r>
          </a:p>
          <a:p>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 = ''.join([</a:t>
            </a:r>
            <a:r>
              <a:rPr lang="en-US" sz="3000" dirty="0" err="1" smtClean="0">
                <a:latin typeface="Times New Roman" pitchFamily="18" charset="0"/>
                <a:cs typeface="Times New Roman" pitchFamily="18" charset="0"/>
              </a:rPr>
              <a:t>index_to_char</a:t>
            </a:r>
            <a:r>
              <a:rPr lang="en-US" sz="3000" dirty="0" smtClean="0">
                <a:latin typeface="Times New Roman" pitchFamily="18" charset="0"/>
                <a:cs typeface="Times New Roman" pitchFamily="18" charset="0"/>
              </a:rPr>
              <a:t>[</a:t>
            </a:r>
            <a:r>
              <a:rPr lang="en-US" sz="3000" dirty="0" err="1" smtClean="0">
                <a:latin typeface="Times New Roman" pitchFamily="18" charset="0"/>
                <a:cs typeface="Times New Roman" pitchFamily="18" charset="0"/>
              </a:rPr>
              <a:t>idx</a:t>
            </a:r>
            <a:r>
              <a:rPr lang="en-US" sz="3000" dirty="0" smtClean="0">
                <a:latin typeface="Times New Roman" pitchFamily="18" charset="0"/>
                <a:cs typeface="Times New Roman" pitchFamily="18" charset="0"/>
              </a:rPr>
              <a:t>] for </a:t>
            </a:r>
            <a:r>
              <a:rPr lang="en-US" sz="3000" dirty="0" err="1" smtClean="0">
                <a:latin typeface="Times New Roman" pitchFamily="18" charset="0"/>
                <a:cs typeface="Times New Roman" pitchFamily="18" charset="0"/>
              </a:rPr>
              <a:t>idx</a:t>
            </a:r>
            <a:r>
              <a:rPr lang="en-US" sz="3000" dirty="0" smtClean="0">
                <a:latin typeface="Times New Roman" pitchFamily="18" charset="0"/>
                <a:cs typeface="Times New Roman" pitchFamily="18" charset="0"/>
              </a:rPr>
              <a:t> in </a:t>
            </a:r>
            <a:r>
              <a:rPr lang="en-US" sz="3000" dirty="0" err="1" smtClean="0">
                <a:latin typeface="Times New Roman" pitchFamily="18" charset="0"/>
                <a:cs typeface="Times New Roman" pitchFamily="18" charset="0"/>
              </a:rPr>
              <a:t>decoded_text_from_image</a:t>
            </a:r>
            <a:r>
              <a:rPr lang="en-US" sz="3000" dirty="0" smtClean="0">
                <a:latin typeface="Times New Roman" pitchFamily="18" charset="0"/>
                <a:cs typeface="Times New Roman" pitchFamily="18" charset="0"/>
              </a:rPr>
              <a:t>[0]])</a:t>
            </a:r>
          </a:p>
          <a:p>
            <a:r>
              <a:rPr lang="en-US" sz="3000" dirty="0" smtClean="0">
                <a:latin typeface="Times New Roman" pitchFamily="18" charset="0"/>
                <a:cs typeface="Times New Roman" pitchFamily="18" charset="0"/>
              </a:rPr>
              <a:t>print("Decoded Text:", </a:t>
            </a:r>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context = {'data': </a:t>
            </a:r>
            <a:r>
              <a:rPr lang="en-US" sz="3000" dirty="0" err="1" smtClean="0">
                <a:latin typeface="Times New Roman" pitchFamily="18" charset="0"/>
                <a:cs typeface="Times New Roman" pitchFamily="18" charset="0"/>
              </a:rPr>
              <a:t>decoded_text</a:t>
            </a:r>
            <a:r>
              <a:rPr lang="en-US" sz="3000" dirty="0" smtClean="0">
                <a:latin typeface="Times New Roman" pitchFamily="18" charset="0"/>
                <a:cs typeface="Times New Roman" pitchFamily="18" charset="0"/>
              </a:rPr>
              <a:t>}</a:t>
            </a:r>
          </a:p>
          <a:p>
            <a:r>
              <a:rPr lang="en-US" sz="3000" dirty="0" smtClean="0">
                <a:latin typeface="Times New Roman" pitchFamily="18" charset="0"/>
                <a:cs typeface="Times New Roman" pitchFamily="18" charset="0"/>
              </a:rPr>
              <a:t>return render(</a:t>
            </a:r>
            <a:r>
              <a:rPr lang="en-US" sz="3000" dirty="0" err="1" smtClean="0">
                <a:latin typeface="Times New Roman" pitchFamily="18" charset="0"/>
                <a:cs typeface="Times New Roman" pitchFamily="18" charset="0"/>
              </a:rPr>
              <a:t>request,'Decode.html</a:t>
            </a:r>
            <a:r>
              <a:rPr lang="en-US" sz="3000" dirty="0" smtClean="0">
                <a:latin typeface="Times New Roman" pitchFamily="18" charset="0"/>
                <a:cs typeface="Times New Roman" pitchFamily="18" charset="0"/>
              </a:rPr>
              <a:t>', context)                                                </a:t>
            </a:r>
          </a:p>
          <a:p>
            <a:r>
              <a:rPr lang="en-US" sz="3000" dirty="0" err="1" smtClean="0">
                <a:latin typeface="Times New Roman" pitchFamily="18" charset="0"/>
                <a:cs typeface="Times New Roman" pitchFamily="18" charset="0"/>
              </a:rPr>
              <a:t>else:context</a:t>
            </a:r>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 {'data': "Message Length Must Be 20 Characters"}</a:t>
            </a:r>
          </a:p>
          <a:p>
            <a:r>
              <a:rPr lang="en-IN" sz="3000" dirty="0" smtClean="0">
                <a:latin typeface="Times New Roman" pitchFamily="18" charset="0"/>
                <a:cs typeface="Times New Roman" pitchFamily="18" charset="0"/>
              </a:rPr>
              <a:t>return render(</a:t>
            </a:r>
            <a:r>
              <a:rPr lang="en-IN" sz="3000" dirty="0" err="1" smtClean="0">
                <a:latin typeface="Times New Roman" pitchFamily="18" charset="0"/>
                <a:cs typeface="Times New Roman" pitchFamily="18" charset="0"/>
              </a:rPr>
              <a:t>request,'Encode.html</a:t>
            </a:r>
            <a:r>
              <a:rPr lang="en-IN" sz="3000" dirty="0" smtClean="0">
                <a:latin typeface="Times New Roman" pitchFamily="18" charset="0"/>
                <a:cs typeface="Times New Roman" pitchFamily="18" charset="0"/>
              </a:rPr>
              <a:t>', context</a:t>
            </a:r>
            <a:r>
              <a:rPr lang="en-IN" sz="3000" dirty="0" smtClean="0">
                <a:latin typeface="Times New Roman" pitchFamily="18" charset="0"/>
                <a:cs typeface="Times New Roman" pitchFamily="18" charset="0"/>
              </a:rPr>
              <a:t>)</a:t>
            </a:r>
            <a:endParaRPr lang="en-US" sz="30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1357258" y="1571600"/>
            <a:ext cx="7500990" cy="3929090"/>
          </a:xfrm>
          <a:prstGeom prst="rect">
            <a:avLst/>
          </a:prstGeom>
          <a:noFill/>
          <a:ln w="9525">
            <a:noFill/>
            <a:miter lim="800000"/>
            <a:headEnd/>
            <a:tailEnd/>
          </a:ln>
        </p:spPr>
      </p:pic>
      <p:pic>
        <p:nvPicPr>
          <p:cNvPr id="3" name="Picture 2"/>
          <p:cNvPicPr/>
          <p:nvPr/>
        </p:nvPicPr>
        <p:blipFill>
          <a:blip r:embed="rId3" cstate="print"/>
          <a:srcRect/>
          <a:stretch>
            <a:fillRect/>
          </a:stretch>
        </p:blipFill>
        <p:spPr bwMode="auto">
          <a:xfrm>
            <a:off x="9929818" y="1643038"/>
            <a:ext cx="7358114" cy="3929090"/>
          </a:xfrm>
          <a:prstGeom prst="rect">
            <a:avLst/>
          </a:prstGeom>
          <a:noFill/>
          <a:ln w="9525">
            <a:noFill/>
            <a:miter lim="800000"/>
            <a:headEnd/>
            <a:tailEnd/>
          </a:ln>
        </p:spPr>
      </p:pic>
      <p:pic>
        <p:nvPicPr>
          <p:cNvPr id="4" name="Picture 3"/>
          <p:cNvPicPr/>
          <p:nvPr/>
        </p:nvPicPr>
        <p:blipFill>
          <a:blip r:embed="rId4" cstate="print"/>
          <a:srcRect/>
          <a:stretch>
            <a:fillRect/>
          </a:stretch>
        </p:blipFill>
        <p:spPr bwMode="auto">
          <a:xfrm>
            <a:off x="1357258" y="5857880"/>
            <a:ext cx="7429552" cy="3786214"/>
          </a:xfrm>
          <a:prstGeom prst="rect">
            <a:avLst/>
          </a:prstGeom>
          <a:noFill/>
          <a:ln w="9525">
            <a:noFill/>
            <a:miter lim="800000"/>
            <a:headEnd/>
            <a:tailEnd/>
          </a:ln>
        </p:spPr>
      </p:pic>
      <p:pic>
        <p:nvPicPr>
          <p:cNvPr id="5" name="Picture 4"/>
          <p:cNvPicPr/>
          <p:nvPr/>
        </p:nvPicPr>
        <p:blipFill>
          <a:blip r:embed="rId5" cstate="print"/>
          <a:srcRect/>
          <a:stretch>
            <a:fillRect/>
          </a:stretch>
        </p:blipFill>
        <p:spPr bwMode="auto">
          <a:xfrm>
            <a:off x="10001256" y="5929318"/>
            <a:ext cx="7358114" cy="3714776"/>
          </a:xfrm>
          <a:prstGeom prst="rect">
            <a:avLst/>
          </a:prstGeom>
          <a:noFill/>
          <a:ln w="9525">
            <a:noFill/>
            <a:miter lim="800000"/>
            <a:headEnd/>
            <a:tailEnd/>
          </a:ln>
        </p:spPr>
      </p:pic>
      <p:sp>
        <p:nvSpPr>
          <p:cNvPr id="6" name="TextBox 5"/>
          <p:cNvSpPr txBox="1"/>
          <p:nvPr/>
        </p:nvSpPr>
        <p:spPr>
          <a:xfrm>
            <a:off x="857192" y="642906"/>
            <a:ext cx="3643338" cy="646331"/>
          </a:xfrm>
          <a:prstGeom prst="rect">
            <a:avLst/>
          </a:prstGeom>
          <a:noFill/>
        </p:spPr>
        <p:txBody>
          <a:bodyPr wrap="square" rtlCol="0">
            <a:spAutoFit/>
          </a:bodyPr>
          <a:lstStyle/>
          <a:p>
            <a:r>
              <a:rPr lang="en-US" sz="3600" b="1" dirty="0" smtClean="0">
                <a:latin typeface="Canva Sans Bold" charset="0"/>
              </a:rPr>
              <a:t>Result:</a:t>
            </a:r>
            <a:endParaRPr lang="en-US" sz="3600" b="1" dirty="0">
              <a:latin typeface="Canva Sans Bold"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1142944" y="500030"/>
            <a:ext cx="7929618" cy="4429156"/>
          </a:xfrm>
          <a:prstGeom prst="rect">
            <a:avLst/>
          </a:prstGeom>
          <a:noFill/>
          <a:ln w="9525">
            <a:noFill/>
            <a:miter lim="800000"/>
            <a:headEnd/>
            <a:tailEnd/>
          </a:ln>
        </p:spPr>
      </p:pic>
      <p:pic>
        <p:nvPicPr>
          <p:cNvPr id="3" name="Picture 2"/>
          <p:cNvPicPr/>
          <p:nvPr/>
        </p:nvPicPr>
        <p:blipFill>
          <a:blip r:embed="rId3" cstate="print"/>
          <a:srcRect/>
          <a:stretch>
            <a:fillRect/>
          </a:stretch>
        </p:blipFill>
        <p:spPr bwMode="auto">
          <a:xfrm>
            <a:off x="9715504" y="571468"/>
            <a:ext cx="7572428" cy="4429156"/>
          </a:xfrm>
          <a:prstGeom prst="rect">
            <a:avLst/>
          </a:prstGeom>
          <a:noFill/>
          <a:ln w="9525">
            <a:noFill/>
            <a:miter lim="800000"/>
            <a:headEnd/>
            <a:tailEnd/>
          </a:ln>
        </p:spPr>
      </p:pic>
      <p:pic>
        <p:nvPicPr>
          <p:cNvPr id="4" name="Picture 3"/>
          <p:cNvPicPr/>
          <p:nvPr/>
        </p:nvPicPr>
        <p:blipFill>
          <a:blip r:embed="rId4" cstate="print"/>
          <a:srcRect/>
          <a:stretch>
            <a:fillRect/>
          </a:stretch>
        </p:blipFill>
        <p:spPr bwMode="auto">
          <a:xfrm>
            <a:off x="1142944" y="5429252"/>
            <a:ext cx="7929618" cy="4171968"/>
          </a:xfrm>
          <a:prstGeom prst="rect">
            <a:avLst/>
          </a:prstGeom>
          <a:noFill/>
          <a:ln w="9525">
            <a:noFill/>
            <a:miter lim="800000"/>
            <a:headEnd/>
            <a:tailEnd/>
          </a:ln>
        </p:spPr>
      </p:pic>
      <p:pic>
        <p:nvPicPr>
          <p:cNvPr id="5" name="Picture 4"/>
          <p:cNvPicPr/>
          <p:nvPr/>
        </p:nvPicPr>
        <p:blipFill>
          <a:blip r:embed="rId5" cstate="print"/>
          <a:srcRect/>
          <a:stretch>
            <a:fillRect/>
          </a:stretch>
        </p:blipFill>
        <p:spPr bwMode="auto">
          <a:xfrm>
            <a:off x="9786942" y="5429252"/>
            <a:ext cx="7472394" cy="415450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1928762" y="661966"/>
            <a:ext cx="7286676" cy="3910030"/>
          </a:xfrm>
          <a:prstGeom prst="rect">
            <a:avLst/>
          </a:prstGeom>
          <a:noFill/>
          <a:ln w="9525">
            <a:noFill/>
            <a:miter lim="800000"/>
            <a:headEnd/>
            <a:tailEnd/>
          </a:ln>
        </p:spPr>
      </p:pic>
      <p:sp>
        <p:nvSpPr>
          <p:cNvPr id="3" name="TextBox 4"/>
          <p:cNvSpPr txBox="1"/>
          <p:nvPr/>
        </p:nvSpPr>
        <p:spPr>
          <a:xfrm>
            <a:off x="500002" y="4714872"/>
            <a:ext cx="4760136" cy="887095"/>
          </a:xfrm>
          <a:prstGeom prst="rect">
            <a:avLst/>
          </a:prstGeom>
        </p:spPr>
        <p:txBody>
          <a:bodyPr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Conclusion:</a:t>
            </a:r>
          </a:p>
        </p:txBody>
      </p:sp>
      <p:sp>
        <p:nvSpPr>
          <p:cNvPr id="4" name="Rectangle 3"/>
          <p:cNvSpPr/>
          <p:nvPr/>
        </p:nvSpPr>
        <p:spPr>
          <a:xfrm>
            <a:off x="3000332" y="5643566"/>
            <a:ext cx="14787602" cy="4524315"/>
          </a:xfrm>
          <a:prstGeom prst="rect">
            <a:avLst/>
          </a:prstGeom>
        </p:spPr>
        <p:txBody>
          <a:bodyPr wrap="square">
            <a:spAutoFit/>
          </a:bodyPr>
          <a:lstStyle/>
          <a:p>
            <a:pPr algn="just">
              <a:lnSpc>
                <a:spcPct val="150000"/>
              </a:lnSpc>
            </a:pPr>
            <a:r>
              <a:rPr lang="en-US" sz="3200" dirty="0" smtClean="0">
                <a:solidFill>
                  <a:srgbClr val="000000"/>
                </a:solidFill>
                <a:latin typeface="Canva Sans"/>
                <a:ea typeface="Canva Sans"/>
                <a:cs typeface="Canva Sans"/>
                <a:sym typeface="Canva Sans"/>
              </a:rPr>
              <a:t>The proposed image </a:t>
            </a:r>
            <a:r>
              <a:rPr lang="en-US" sz="3200" dirty="0" err="1" smtClean="0">
                <a:solidFill>
                  <a:srgbClr val="000000"/>
                </a:solidFill>
                <a:latin typeface="Canva Sans"/>
                <a:ea typeface="Canva Sans"/>
                <a:cs typeface="Canva Sans"/>
                <a:sym typeface="Canva Sans"/>
              </a:rPr>
              <a:t>steganography</a:t>
            </a:r>
            <a:r>
              <a:rPr lang="en-US" sz="3200" dirty="0" smtClean="0">
                <a:solidFill>
                  <a:srgbClr val="000000"/>
                </a:solidFill>
                <a:latin typeface="Canva Sans"/>
                <a:ea typeface="Canva Sans"/>
                <a:cs typeface="Canva Sans"/>
                <a:sym typeface="Canva Sans"/>
              </a:rPr>
              <a:t> system uses a </a:t>
            </a:r>
            <a:r>
              <a:rPr lang="en-US" sz="3200" dirty="0" err="1" smtClean="0">
                <a:solidFill>
                  <a:srgbClr val="000000"/>
                </a:solidFill>
                <a:latin typeface="Canva Sans"/>
                <a:ea typeface="Canva Sans"/>
                <a:cs typeface="Canva Sans"/>
                <a:sym typeface="Canva Sans"/>
              </a:rPr>
              <a:t>Convolutional</a:t>
            </a:r>
            <a:r>
              <a:rPr lang="en-US" sz="3200" dirty="0" smtClean="0">
                <a:solidFill>
                  <a:srgbClr val="000000"/>
                </a:solidFill>
                <a:latin typeface="Canva Sans"/>
                <a:ea typeface="Canva Sans"/>
                <a:cs typeface="Canva Sans"/>
                <a:sym typeface="Canva Sans"/>
              </a:rPr>
              <a:t> Neural Network (CNN) based encoder–decoder model to hide and retrieve secret data in images. It improves security, payload capacity, and image quality compared to traditional methods like Least Significant Bit (LSB). The system successfully hides data and retrieves it with high accuracy, making it useful for secure communication and digital forensics.</a:t>
            </a:r>
            <a:endParaRPr lang="en-US" sz="3200" dirty="0">
              <a:solidFill>
                <a:srgbClr val="000000"/>
              </a:solidFill>
              <a:latin typeface="Canva Sans"/>
              <a:ea typeface="Canva Sans"/>
              <a:cs typeface="Canva Sans"/>
              <a:sym typeface="Canva Sans"/>
            </a:endParaRPr>
          </a:p>
        </p:txBody>
      </p:sp>
      <p:sp>
        <p:nvSpPr>
          <p:cNvPr id="5" name="AutoShape 5"/>
          <p:cNvSpPr/>
          <p:nvPr/>
        </p:nvSpPr>
        <p:spPr>
          <a:xfrm>
            <a:off x="1000068" y="5500690"/>
            <a:ext cx="3750032"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28630" y="2755159"/>
            <a:ext cx="16502114" cy="4674357"/>
          </a:xfrm>
          <a:prstGeom prst="rect">
            <a:avLst/>
          </a:prstGeom>
        </p:spPr>
        <p:txBody>
          <a:bodyPr wrap="square" lIns="0" tIns="0" rIns="0" bIns="0" rtlCol="0" anchor="t">
            <a:spAutoFit/>
          </a:bodyPr>
          <a:lstStyle/>
          <a:p>
            <a:pPr>
              <a:lnSpc>
                <a:spcPct val="150000"/>
              </a:lnSpc>
              <a:buFont typeface="Arial" pitchFamily="34" charset="0"/>
              <a:buChar char="•"/>
            </a:pPr>
            <a:r>
              <a:rPr lang="en-IN" sz="3200" dirty="0" smtClean="0">
                <a:latin typeface="Canva Sans" charset="0"/>
              </a:rPr>
              <a:t>Future research can focus on enhancing the model performance, improving robustness, and extending the system for more advanced applications</a:t>
            </a:r>
            <a:r>
              <a:rPr lang="en-IN" sz="3200" dirty="0" smtClean="0">
                <a:latin typeface="Canva Sans" charset="0"/>
              </a:rPr>
              <a:t>.</a:t>
            </a:r>
          </a:p>
          <a:p>
            <a:pPr>
              <a:lnSpc>
                <a:spcPct val="150000"/>
              </a:lnSpc>
            </a:pPr>
            <a:endParaRPr lang="en-US" sz="1050" dirty="0" smtClean="0">
              <a:latin typeface="Canva Sans" charset="0"/>
            </a:endParaRPr>
          </a:p>
          <a:p>
            <a:pPr>
              <a:lnSpc>
                <a:spcPct val="150000"/>
              </a:lnSpc>
              <a:buFont typeface="Arial" pitchFamily="34" charset="0"/>
              <a:buChar char="•"/>
            </a:pPr>
            <a:r>
              <a:rPr lang="en-US" sz="3200" dirty="0" smtClean="0">
                <a:latin typeface="Canva Sans" charset="0"/>
              </a:rPr>
              <a:t>Future work can also include the development of real-time </a:t>
            </a:r>
            <a:r>
              <a:rPr lang="en-US" sz="3200" dirty="0" err="1" smtClean="0">
                <a:latin typeface="Canva Sans" charset="0"/>
              </a:rPr>
              <a:t>steganography</a:t>
            </a:r>
            <a:r>
              <a:rPr lang="en-US" sz="3200" dirty="0" smtClean="0">
                <a:latin typeface="Canva Sans" charset="0"/>
              </a:rPr>
              <a:t> </a:t>
            </a:r>
            <a:r>
              <a:rPr lang="en-US" sz="3200" dirty="0" smtClean="0">
                <a:latin typeface="Canva Sans" charset="0"/>
              </a:rPr>
              <a:t>systems </a:t>
            </a:r>
            <a:r>
              <a:rPr lang="en-US" sz="3200" dirty="0" smtClean="0">
                <a:latin typeface="Canva Sans" charset="0"/>
              </a:rPr>
              <a:t>for secure communication over the internet and multimedia platforms. Additionally, lightweight deep learning architectures can be implemented to enable the system to run efficiently on mobile devices, embedded systems, and </a:t>
            </a:r>
            <a:r>
              <a:rPr lang="en-US" sz="3200" dirty="0" err="1" smtClean="0">
                <a:latin typeface="Canva Sans" charset="0"/>
              </a:rPr>
              <a:t>IoT</a:t>
            </a:r>
            <a:r>
              <a:rPr lang="en-US" sz="3200" dirty="0" smtClean="0">
                <a:latin typeface="Canva Sans" charset="0"/>
              </a:rPr>
              <a:t> platforms.</a:t>
            </a:r>
            <a:endParaRPr lang="en-US" sz="3200" dirty="0">
              <a:latin typeface="Canva Sans" charset="0"/>
            </a:endParaRPr>
          </a:p>
        </p:txBody>
      </p:sp>
      <p:sp>
        <p:nvSpPr>
          <p:cNvPr id="4" name="TextBox 4"/>
          <p:cNvSpPr txBox="1"/>
          <p:nvPr/>
        </p:nvSpPr>
        <p:spPr>
          <a:xfrm>
            <a:off x="142812" y="857220"/>
            <a:ext cx="7358114" cy="863826"/>
          </a:xfrm>
          <a:prstGeom prst="rect">
            <a:avLst/>
          </a:prstGeom>
        </p:spPr>
        <p:txBody>
          <a:bodyPr wrap="square" lIns="0" tIns="0" rIns="0" bIns="0" rtlCol="0" anchor="t">
            <a:spAutoFit/>
          </a:bodyPr>
          <a:lstStyle/>
          <a:p>
            <a:pPr algn="ctr">
              <a:lnSpc>
                <a:spcPts val="7279"/>
              </a:lnSpc>
            </a:pPr>
            <a:r>
              <a:rPr lang="en-IN" sz="4800" b="1" dirty="0" smtClean="0">
                <a:latin typeface="Canva Sans Bold" charset="0"/>
              </a:rPr>
              <a:t>FUTURE</a:t>
            </a:r>
            <a:r>
              <a:rPr lang="en-IN" sz="4800" b="1" dirty="0" smtClean="0">
                <a:latin typeface="Canva Sans" charset="0"/>
              </a:rPr>
              <a:t> </a:t>
            </a:r>
            <a:r>
              <a:rPr lang="en-IN" sz="4800" b="1" dirty="0" smtClean="0">
                <a:latin typeface="Canva Sans Bold" charset="0"/>
              </a:rPr>
              <a:t>ASPECTS:</a:t>
            </a:r>
            <a:endParaRPr lang="en-US" sz="4800" b="1" dirty="0">
              <a:solidFill>
                <a:srgbClr val="000000"/>
              </a:solidFill>
              <a:latin typeface="Canva Sans Bold" charset="0"/>
              <a:ea typeface="Canva Sans Bold"/>
              <a:cs typeface="Canva Sans Bold"/>
              <a:sym typeface="Canva Sans Bold"/>
            </a:endParaRPr>
          </a:p>
        </p:txBody>
      </p:sp>
      <p:sp>
        <p:nvSpPr>
          <p:cNvPr id="5" name="AutoShape 5"/>
          <p:cNvSpPr/>
          <p:nvPr/>
        </p:nvSpPr>
        <p:spPr>
          <a:xfrm flipV="1">
            <a:off x="1071506" y="1571600"/>
            <a:ext cx="5535982" cy="45719"/>
          </a:xfrm>
          <a:prstGeom prst="line">
            <a:avLst/>
          </a:prstGeom>
          <a:ln w="38100" cap="flat">
            <a:solidFill>
              <a:srgbClr val="000000"/>
            </a:solidFill>
            <a:prstDash val="solid"/>
            <a:headEnd type="none" w="sm" len="sm"/>
            <a:tailEnd type="none" w="sm" len="sm"/>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4382" y="1245466"/>
            <a:ext cx="16502178" cy="5755422"/>
          </a:xfrm>
          <a:prstGeom prst="rect">
            <a:avLst/>
          </a:prstGeom>
          <a:noFill/>
        </p:spPr>
        <p:txBody>
          <a:bodyPr wrap="square" rtlCol="0">
            <a:spAutoFit/>
          </a:bodyPr>
          <a:lstStyle/>
          <a:p>
            <a:r>
              <a:rPr lang="en-IN" sz="3200" dirty="0" smtClean="0">
                <a:latin typeface="Canva Sans" charset="0"/>
              </a:rPr>
              <a:t>[</a:t>
            </a:r>
            <a:r>
              <a:rPr lang="en-IN" sz="3200" dirty="0" smtClean="0">
                <a:latin typeface="Canva Sans" charset="0"/>
              </a:rPr>
              <a:t>1]  Zhu, J., Kaplan, R., Johnson, J., &amp;</a:t>
            </a:r>
            <a:r>
              <a:rPr lang="en-IN" sz="3200" dirty="0" err="1" smtClean="0">
                <a:latin typeface="Canva Sans" charset="0"/>
              </a:rPr>
              <a:t>Fei-Fei</a:t>
            </a:r>
            <a:r>
              <a:rPr lang="en-IN" sz="3200" dirty="0" smtClean="0">
                <a:latin typeface="Canva Sans" charset="0"/>
              </a:rPr>
              <a:t>, L. (2018). "Image </a:t>
            </a:r>
            <a:r>
              <a:rPr lang="en-IN" sz="3200" dirty="0" err="1" smtClean="0">
                <a:latin typeface="Canva Sans" charset="0"/>
              </a:rPr>
              <a:t>Steganography</a:t>
            </a:r>
            <a:r>
              <a:rPr lang="en-IN" sz="3200" dirty="0" smtClean="0">
                <a:latin typeface="Canva Sans" charset="0"/>
              </a:rPr>
              <a:t> Using </a:t>
            </a:r>
            <a:endParaRPr lang="en-IN" sz="3200" dirty="0" smtClean="0">
              <a:latin typeface="Canva Sans" charset="0"/>
            </a:endParaRPr>
          </a:p>
          <a:p>
            <a:pPr>
              <a:lnSpc>
                <a:spcPct val="150000"/>
              </a:lnSpc>
            </a:pPr>
            <a:r>
              <a:rPr lang="en-IN" sz="3200" dirty="0" smtClean="0">
                <a:latin typeface="Canva Sans" charset="0"/>
              </a:rPr>
              <a:t> </a:t>
            </a:r>
            <a:r>
              <a:rPr lang="en-IN" sz="3200" dirty="0" smtClean="0">
                <a:latin typeface="Canva Sans" charset="0"/>
              </a:rPr>
              <a:t>      Deep</a:t>
            </a:r>
            <a:r>
              <a:rPr lang="en-US" sz="3200" dirty="0" smtClean="0">
                <a:latin typeface="Canva Sans" charset="0"/>
              </a:rPr>
              <a:t> </a:t>
            </a:r>
            <a:r>
              <a:rPr lang="en-IN" sz="3200" dirty="0" err="1" smtClean="0">
                <a:latin typeface="Canva Sans" charset="0"/>
              </a:rPr>
              <a:t>Convolutional</a:t>
            </a:r>
            <a:r>
              <a:rPr lang="en-IN" sz="3200" dirty="0" smtClean="0">
                <a:latin typeface="Canva Sans" charset="0"/>
              </a:rPr>
              <a:t> </a:t>
            </a:r>
            <a:r>
              <a:rPr lang="en-IN" sz="3200" dirty="0" smtClean="0">
                <a:latin typeface="Canva Sans" charset="0"/>
              </a:rPr>
              <a:t>Neural Networks</a:t>
            </a:r>
            <a:r>
              <a:rPr lang="en-IN" sz="3200" dirty="0" smtClean="0">
                <a:latin typeface="Canva Sans" charset="0"/>
              </a:rPr>
              <a:t>."</a:t>
            </a:r>
            <a:endParaRPr lang="en-US" sz="3200" dirty="0" smtClean="0">
              <a:latin typeface="Canva Sans" charset="0"/>
            </a:endParaRPr>
          </a:p>
          <a:p>
            <a:pPr>
              <a:lnSpc>
                <a:spcPct val="150000"/>
              </a:lnSpc>
            </a:pPr>
            <a:r>
              <a:rPr lang="en-IN" sz="3200" dirty="0" smtClean="0">
                <a:latin typeface="Canva Sans" charset="0"/>
              </a:rPr>
              <a:t>[2]  </a:t>
            </a:r>
            <a:r>
              <a:rPr lang="en-IN" sz="3200" dirty="0" err="1" smtClean="0">
                <a:latin typeface="Canva Sans" charset="0"/>
              </a:rPr>
              <a:t>Baluja</a:t>
            </a:r>
            <a:r>
              <a:rPr lang="en-IN" sz="3200" dirty="0" smtClean="0">
                <a:latin typeface="Canva Sans" charset="0"/>
              </a:rPr>
              <a:t>, H. (2019). "Deep Learning-Based </a:t>
            </a:r>
            <a:r>
              <a:rPr lang="en-IN" sz="3200" dirty="0" err="1" smtClean="0">
                <a:latin typeface="Canva Sans" charset="0"/>
              </a:rPr>
              <a:t>Steganography</a:t>
            </a:r>
            <a:r>
              <a:rPr lang="en-IN" sz="3200" dirty="0" smtClean="0">
                <a:latin typeface="Canva Sans" charset="0"/>
              </a:rPr>
              <a:t> and </a:t>
            </a:r>
            <a:r>
              <a:rPr lang="en-IN" sz="3200" dirty="0" err="1" smtClean="0">
                <a:latin typeface="Canva Sans" charset="0"/>
              </a:rPr>
              <a:t>Steganalysis</a:t>
            </a:r>
            <a:r>
              <a:rPr lang="en-IN" sz="3200" dirty="0" smtClean="0">
                <a:latin typeface="Canva Sans" charset="0"/>
              </a:rPr>
              <a:t>."</a:t>
            </a:r>
            <a:endParaRPr lang="en-US" sz="3200" dirty="0" smtClean="0">
              <a:latin typeface="Canva Sans" charset="0"/>
            </a:endParaRPr>
          </a:p>
          <a:p>
            <a:pPr>
              <a:lnSpc>
                <a:spcPct val="150000"/>
              </a:lnSpc>
            </a:pPr>
            <a:r>
              <a:rPr lang="en-IN" sz="3200" dirty="0" smtClean="0">
                <a:latin typeface="Canva Sans" charset="0"/>
              </a:rPr>
              <a:t>[3]  Kumar, A., &amp;</a:t>
            </a:r>
            <a:r>
              <a:rPr lang="en-IN" sz="3200" dirty="0" err="1" smtClean="0">
                <a:latin typeface="Canva Sans" charset="0"/>
              </a:rPr>
              <a:t>Tripathi</a:t>
            </a:r>
            <a:r>
              <a:rPr lang="en-IN" sz="3200" dirty="0" smtClean="0">
                <a:latin typeface="Canva Sans" charset="0"/>
              </a:rPr>
              <a:t>, S. (2020). "Secure Image </a:t>
            </a:r>
            <a:r>
              <a:rPr lang="en-IN" sz="3200" dirty="0" err="1" smtClean="0">
                <a:latin typeface="Canva Sans" charset="0"/>
              </a:rPr>
              <a:t>Steganography</a:t>
            </a:r>
            <a:r>
              <a:rPr lang="en-IN" sz="3200" dirty="0" smtClean="0">
                <a:latin typeface="Canva Sans" charset="0"/>
              </a:rPr>
              <a:t> with GANs and </a:t>
            </a:r>
            <a:endParaRPr lang="en-IN" sz="3200" dirty="0" smtClean="0">
              <a:latin typeface="Canva Sans" charset="0"/>
            </a:endParaRPr>
          </a:p>
          <a:p>
            <a:r>
              <a:rPr lang="en-IN" sz="3200" dirty="0" smtClean="0">
                <a:latin typeface="Canva Sans" charset="0"/>
              </a:rPr>
              <a:t> </a:t>
            </a:r>
            <a:r>
              <a:rPr lang="en-IN" sz="3200" dirty="0" smtClean="0">
                <a:latin typeface="Canva Sans" charset="0"/>
              </a:rPr>
              <a:t>      CNNs."</a:t>
            </a:r>
            <a:endParaRPr lang="en-US" sz="3200" dirty="0" smtClean="0">
              <a:latin typeface="Canva Sans" charset="0"/>
            </a:endParaRPr>
          </a:p>
          <a:p>
            <a:pPr>
              <a:lnSpc>
                <a:spcPct val="150000"/>
              </a:lnSpc>
            </a:pPr>
            <a:r>
              <a:rPr lang="en-IN" sz="3200" dirty="0" smtClean="0">
                <a:latin typeface="Canva Sans" charset="0"/>
              </a:rPr>
              <a:t>[4]  Patel, K., &amp; </a:t>
            </a:r>
            <a:r>
              <a:rPr lang="en-IN" sz="3200" dirty="0" err="1" smtClean="0">
                <a:latin typeface="Canva Sans" charset="0"/>
              </a:rPr>
              <a:t>Mishra</a:t>
            </a:r>
            <a:r>
              <a:rPr lang="en-IN" sz="3200" dirty="0" smtClean="0">
                <a:latin typeface="Canva Sans" charset="0"/>
              </a:rPr>
              <a:t>, V. (2021). "A Deep Learning Framework for Image </a:t>
            </a:r>
            <a:endParaRPr lang="en-IN" sz="3200" dirty="0" smtClean="0">
              <a:latin typeface="Canva Sans" charset="0"/>
            </a:endParaRPr>
          </a:p>
          <a:p>
            <a:r>
              <a:rPr lang="en-IN" sz="3200" dirty="0" smtClean="0">
                <a:latin typeface="Canva Sans" charset="0"/>
              </a:rPr>
              <a:t> </a:t>
            </a:r>
            <a:r>
              <a:rPr lang="en-IN" sz="3200" dirty="0" smtClean="0">
                <a:latin typeface="Canva Sans" charset="0"/>
              </a:rPr>
              <a:t>       </a:t>
            </a:r>
            <a:r>
              <a:rPr lang="en-IN" sz="3200" dirty="0" err="1" smtClean="0">
                <a:latin typeface="Canva Sans" charset="0"/>
              </a:rPr>
              <a:t>S</a:t>
            </a:r>
            <a:r>
              <a:rPr lang="en-IN" sz="3200" dirty="0" err="1" smtClean="0">
                <a:latin typeface="Canva Sans" charset="0"/>
              </a:rPr>
              <a:t>teganography</a:t>
            </a:r>
            <a:r>
              <a:rPr lang="en-IN" sz="3200" dirty="0" smtClean="0">
                <a:latin typeface="Canva Sans" charset="0"/>
              </a:rPr>
              <a:t> </a:t>
            </a:r>
            <a:r>
              <a:rPr lang="en-IN" sz="3200" dirty="0" smtClean="0">
                <a:latin typeface="Canva Sans" charset="0"/>
              </a:rPr>
              <a:t>Using CNN</a:t>
            </a:r>
            <a:r>
              <a:rPr lang="en-IN" sz="3200" dirty="0" smtClean="0">
                <a:latin typeface="Canva Sans" charset="0"/>
              </a:rPr>
              <a:t>."</a:t>
            </a:r>
            <a:endParaRPr lang="en-US" sz="3200" dirty="0" smtClean="0">
              <a:latin typeface="Canva Sans" charset="0"/>
            </a:endParaRPr>
          </a:p>
          <a:p>
            <a:pPr>
              <a:lnSpc>
                <a:spcPct val="150000"/>
              </a:lnSpc>
            </a:pPr>
            <a:r>
              <a:rPr lang="en-IN" sz="3200" dirty="0" smtClean="0">
                <a:latin typeface="Canva Sans" charset="0"/>
              </a:rPr>
              <a:t>[5]  Zhang, M., Li, Y., &amp; Zhou, X. (2022). "Robust Image </a:t>
            </a:r>
            <a:r>
              <a:rPr lang="en-IN" sz="3200" dirty="0" err="1" smtClean="0">
                <a:latin typeface="Canva Sans" charset="0"/>
              </a:rPr>
              <a:t>Steganography</a:t>
            </a:r>
            <a:r>
              <a:rPr lang="en-IN" sz="3200" dirty="0" smtClean="0">
                <a:latin typeface="Canva Sans" charset="0"/>
              </a:rPr>
              <a:t> with Encoder- </a:t>
            </a:r>
            <a:endParaRPr lang="en-US" sz="3200" dirty="0" smtClean="0">
              <a:latin typeface="Canva Sans" charset="0"/>
            </a:endParaRPr>
          </a:p>
          <a:p>
            <a:r>
              <a:rPr lang="en-IN" sz="3200" dirty="0" smtClean="0">
                <a:latin typeface="Canva Sans" charset="0"/>
              </a:rPr>
              <a:t>      </a:t>
            </a:r>
            <a:r>
              <a:rPr lang="en-IN" sz="3200" dirty="0" smtClean="0">
                <a:latin typeface="Canva Sans" charset="0"/>
              </a:rPr>
              <a:t> Decoder </a:t>
            </a:r>
            <a:r>
              <a:rPr lang="en-IN" sz="3200" dirty="0" smtClean="0">
                <a:latin typeface="Canva Sans" charset="0"/>
              </a:rPr>
              <a:t>Networks</a:t>
            </a:r>
            <a:r>
              <a:rPr lang="en-IN" sz="3200" dirty="0" smtClean="0">
                <a:latin typeface="Canva Sans" charset="0"/>
              </a:rPr>
              <a:t>."</a:t>
            </a:r>
            <a:endParaRPr lang="en-US" sz="3200" dirty="0" smtClean="0">
              <a:latin typeface="Canva Sans" charset="0"/>
            </a:endParaRPr>
          </a:p>
        </p:txBody>
      </p:sp>
      <p:sp>
        <p:nvSpPr>
          <p:cNvPr id="3" name="TextBox 2"/>
          <p:cNvSpPr txBox="1"/>
          <p:nvPr/>
        </p:nvSpPr>
        <p:spPr>
          <a:xfrm>
            <a:off x="857192" y="428592"/>
            <a:ext cx="3857652" cy="646331"/>
          </a:xfrm>
          <a:prstGeom prst="rect">
            <a:avLst/>
          </a:prstGeom>
          <a:noFill/>
        </p:spPr>
        <p:txBody>
          <a:bodyPr wrap="square" rtlCol="0">
            <a:spAutoFit/>
          </a:bodyPr>
          <a:lstStyle/>
          <a:p>
            <a:r>
              <a:rPr lang="en-IN" sz="3600" b="1" dirty="0" smtClean="0">
                <a:latin typeface="Canva Sans Bold" charset="0"/>
              </a:rPr>
              <a:t>REFERENCES</a:t>
            </a:r>
            <a:r>
              <a:rPr lang="en-IN" sz="3600" b="1" dirty="0" smtClean="0"/>
              <a:t>:</a:t>
            </a:r>
            <a:endParaRPr lang="en-US" sz="3600" b="1" dirty="0"/>
          </a:p>
        </p:txBody>
      </p:sp>
      <p:sp>
        <p:nvSpPr>
          <p:cNvPr id="4" name="TextBox 3"/>
          <p:cNvSpPr txBox="1"/>
          <p:nvPr/>
        </p:nvSpPr>
        <p:spPr>
          <a:xfrm>
            <a:off x="1571572" y="8192180"/>
            <a:ext cx="13073154" cy="523220"/>
          </a:xfrm>
          <a:prstGeom prst="rect">
            <a:avLst/>
          </a:prstGeom>
          <a:noFill/>
        </p:spPr>
        <p:txBody>
          <a:bodyPr wrap="square" rtlCol="0">
            <a:spAutoFit/>
          </a:bodyPr>
          <a:lstStyle/>
          <a:p>
            <a:r>
              <a:rPr lang="en-IN" sz="2800" u="sng" dirty="0" smtClean="0">
                <a:latin typeface="Canva Sans" charset="0"/>
                <a:hlinkClick r:id="rId2"/>
              </a:rPr>
              <a:t>https://github.com/shettyrishit-1707/IMAGE-STEGANOGRAPHY-</a:t>
            </a:r>
            <a:endParaRPr lang="en-US" sz="2800" dirty="0">
              <a:latin typeface="Canva Sans" charset="0"/>
            </a:endParaRPr>
          </a:p>
        </p:txBody>
      </p:sp>
      <p:sp>
        <p:nvSpPr>
          <p:cNvPr id="6" name="Rectangle 5"/>
          <p:cNvSpPr/>
          <p:nvPr/>
        </p:nvSpPr>
        <p:spPr>
          <a:xfrm>
            <a:off x="857192" y="7426127"/>
            <a:ext cx="3786214" cy="646331"/>
          </a:xfrm>
          <a:prstGeom prst="rect">
            <a:avLst/>
          </a:prstGeom>
        </p:spPr>
        <p:txBody>
          <a:bodyPr wrap="square">
            <a:spAutoFit/>
          </a:bodyPr>
          <a:lstStyle/>
          <a:p>
            <a:r>
              <a:rPr lang="en-IN" sz="3600" dirty="0" smtClean="0">
                <a:latin typeface="Canva Sans Bold" charset="0"/>
              </a:rPr>
              <a:t>GITHUB </a:t>
            </a:r>
            <a:r>
              <a:rPr lang="en-IN" sz="3600" dirty="0" smtClean="0">
                <a:latin typeface="Canva Sans Bold" charset="0"/>
              </a:rPr>
              <a:t>LINK:</a:t>
            </a:r>
            <a:endParaRPr lang="en-US" sz="3600" dirty="0">
              <a:latin typeface="Canva Sans Bold"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103513" y="4089077"/>
            <a:ext cx="9997789" cy="1899296"/>
          </a:xfrm>
          <a:prstGeom prst="rect">
            <a:avLst/>
          </a:prstGeom>
        </p:spPr>
        <p:txBody>
          <a:bodyPr lIns="0" tIns="0" rIns="0" bIns="0" rtlCol="0" anchor="t">
            <a:spAutoFit/>
          </a:bodyPr>
          <a:lstStyle/>
          <a:p>
            <a:pPr algn="ctr">
              <a:lnSpc>
                <a:spcPts val="15539"/>
              </a:lnSpc>
            </a:pPr>
            <a:r>
              <a:rPr lang="en-US" sz="11099" b="1">
                <a:solidFill>
                  <a:srgbClr val="000000"/>
                </a:solidFill>
                <a:latin typeface="Canva Sans Bold"/>
                <a:ea typeface="Canva Sans Bold"/>
                <a:cs typeface="Canva Sans Bold"/>
                <a:sym typeface="Canva Sans Bold"/>
              </a:rPr>
              <a:t>THANK  YOU</a:t>
            </a:r>
          </a:p>
        </p:txBody>
      </p:sp>
      <p:sp>
        <p:nvSpPr>
          <p:cNvPr id="4" name="TextBox 4"/>
          <p:cNvSpPr txBox="1"/>
          <p:nvPr/>
        </p:nvSpPr>
        <p:spPr>
          <a:xfrm>
            <a:off x="3052969" y="4329739"/>
            <a:ext cx="2101089" cy="1658634"/>
          </a:xfrm>
          <a:prstGeom prst="rect">
            <a:avLst/>
          </a:prstGeom>
        </p:spPr>
        <p:txBody>
          <a:bodyPr lIns="0" tIns="0" rIns="0" bIns="0" rtlCol="0" anchor="t">
            <a:spAutoFit/>
          </a:bodyPr>
          <a:lstStyle/>
          <a:p>
            <a:pPr algn="ctr">
              <a:lnSpc>
                <a:spcPts val="13579"/>
              </a:lnSpc>
            </a:pPr>
            <a:r>
              <a:rPr lang="en-US" sz="9699" b="1">
                <a:solidFill>
                  <a:srgbClr val="000000"/>
                </a:solidFill>
                <a:latin typeface="Canva Sans Bold"/>
                <a:ea typeface="Canva Sans Bold"/>
                <a:cs typeface="Canva Sans Bold"/>
                <a:sym typeface="Canva Sans Bold"/>
              </a:rPr>
              <a:t>~</a:t>
            </a:r>
          </a:p>
        </p:txBody>
      </p:sp>
      <p:sp>
        <p:nvSpPr>
          <p:cNvPr id="5" name="TextBox 5"/>
          <p:cNvSpPr txBox="1"/>
          <p:nvPr/>
        </p:nvSpPr>
        <p:spPr>
          <a:xfrm>
            <a:off x="12874033" y="4329739"/>
            <a:ext cx="2101089" cy="1658634"/>
          </a:xfrm>
          <a:prstGeom prst="rect">
            <a:avLst/>
          </a:prstGeom>
        </p:spPr>
        <p:txBody>
          <a:bodyPr lIns="0" tIns="0" rIns="0" bIns="0" rtlCol="0" anchor="t">
            <a:spAutoFit/>
          </a:bodyPr>
          <a:lstStyle/>
          <a:p>
            <a:pPr algn="ctr">
              <a:lnSpc>
                <a:spcPts val="13579"/>
              </a:lnSpc>
            </a:pPr>
            <a:r>
              <a:rPr lang="en-US" sz="9699" b="1">
                <a:solidFill>
                  <a:srgbClr val="000000"/>
                </a:solidFill>
                <a:latin typeface="Canva Sans Bold"/>
                <a:ea typeface="Canva Sans Bold"/>
                <a:cs typeface="Canva Sans Bold"/>
                <a:sym typeface="Canva Sa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2121</Words>
  <Application>Microsoft Office PowerPoint</Application>
  <PresentationFormat>Custom</PresentationFormat>
  <Paragraphs>249</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Canva Sans Bold</vt:lpstr>
      <vt:lpstr>Canva Sans</vt:lpstr>
      <vt:lpstr>Calibri</vt:lpstr>
      <vt:lpstr>Times New Roman</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RTRP BATCH-20</dc:title>
  <cp:lastModifiedBy>FM</cp:lastModifiedBy>
  <cp:revision>17</cp:revision>
  <dcterms:created xsi:type="dcterms:W3CDTF">2006-08-16T00:00:00Z</dcterms:created>
  <dcterms:modified xsi:type="dcterms:W3CDTF">2026-03-26T17:45:43Z</dcterms:modified>
  <dc:identifier>DAGzNB67lV8</dc:identifier>
</cp:coreProperties>
</file>